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pple SD Gothic Neo"/>
              </a:rPr>
              <a:t>MemMachine 작업 부하 — 누가 수행하고, 무엇이 이미 측정되는가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14400"/>
            <a:ext cx="237744" cy="155448"/>
          </a:xfrm>
          <a:prstGeom prst="roundRect">
            <a:avLst>
              <a:gd name="adj" fmla="val 25000"/>
            </a:avLst>
          </a:prstGeom>
          <a:solidFill>
            <a:srgbClr val="DBE6F6"/>
          </a:solidFill>
          <a:ln w="1397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51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MemMachine 자체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1368" y="914400"/>
            <a:ext cx="237744" cy="155448"/>
          </a:xfrm>
          <a:prstGeom prst="roundRect">
            <a:avLst>
              <a:gd name="adj" fmla="val 25000"/>
            </a:avLst>
          </a:prstGeom>
          <a:solidFill>
            <a:srgbClr val="CDEAE4"/>
          </a:solidFill>
          <a:ln w="1397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914400"/>
            <a:ext cx="1051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외부 저장소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8" y="914400"/>
            <a:ext cx="237744" cy="155448"/>
          </a:xfrm>
          <a:prstGeom prst="roundRect">
            <a:avLst>
              <a:gd name="adj" fmla="val 25000"/>
            </a:avLst>
          </a:prstGeom>
          <a:solidFill>
            <a:srgbClr val="F9DCDC"/>
          </a:solidFill>
          <a:ln w="1397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914400"/>
            <a:ext cx="1051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외부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914400"/>
            <a:ext cx="237744" cy="155448"/>
          </a:xfrm>
          <a:prstGeom prst="roundRect">
            <a:avLst>
              <a:gd name="adj" fmla="val 25000"/>
            </a:avLst>
          </a:prstGeom>
          <a:solidFill>
            <a:srgbClr val="FBE6C8"/>
          </a:solidFill>
          <a:ln w="1397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914400"/>
            <a:ext cx="1051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설정에 따라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914400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55555"/>
                </a:solidFill>
                <a:latin typeface="Apple SD Gothic Neo"/>
              </a:rPr>
              <a:t>계측 배지:</a:t>
            </a:r>
          </a:p>
        </p:txBody>
      </p:sp>
      <p:sp>
        <p:nvSpPr>
          <p:cNvPr id="13" name="Oval 12"/>
          <p:cNvSpPr/>
          <p:nvPr/>
        </p:nvSpPr>
        <p:spPr>
          <a:xfrm>
            <a:off x="7150608" y="88239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914400"/>
            <a:ext cx="960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지연 계측 있음</a:t>
            </a:r>
          </a:p>
        </p:txBody>
      </p:sp>
      <p:sp>
        <p:nvSpPr>
          <p:cNvPr id="15" name="Oval 14"/>
          <p:cNvSpPr/>
          <p:nvPr/>
        </p:nvSpPr>
        <p:spPr>
          <a:xfrm>
            <a:off x="8430768" y="882396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914400"/>
            <a:ext cx="960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부분 계측</a:t>
            </a:r>
          </a:p>
        </p:txBody>
      </p:sp>
      <p:sp>
        <p:nvSpPr>
          <p:cNvPr id="17" name="Oval 16"/>
          <p:cNvSpPr/>
          <p:nvPr/>
        </p:nvSpPr>
        <p:spPr>
          <a:xfrm>
            <a:off x="9710928" y="882396"/>
            <a:ext cx="219456" cy="219456"/>
          </a:xfrm>
          <a:prstGeom prst="ellipse">
            <a:avLst/>
          </a:prstGeom>
          <a:solidFill>
            <a:srgbClr val="A3333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94392" y="914400"/>
            <a:ext cx="960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계측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1188720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Apple SD Gothic Neo"/>
              </a:rPr>
              <a:t>전제: 단계별 phase 지표는 event 백엔드 전용 — 기본 백엔드는 declarative (episodic_config.py:342)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1481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55E"/>
                </a:solidFill>
                <a:latin typeface="Apple SD Gothic Neo"/>
              </a:rPr>
              <a:t>① 적재   POST /memories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세션 확보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LRU · RW 락</a:t>
            </a:r>
          </a:p>
        </p:txBody>
      </p:sp>
      <p:sp>
        <p:nvSpPr>
          <p:cNvPr id="22" name="Oval 21"/>
          <p:cNvSpPr/>
          <p:nvPr/>
        </p:nvSpPr>
        <p:spPr>
          <a:xfrm>
            <a:off x="1554480" y="1764792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56816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원문 INSERT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… RETURNING</a:t>
            </a:r>
          </a:p>
        </p:txBody>
      </p:sp>
      <p:sp>
        <p:nvSpPr>
          <p:cNvPr id="24" name="Oval 23"/>
          <p:cNvSpPr/>
          <p:nvPr/>
        </p:nvSpPr>
        <p:spPr>
          <a:xfrm>
            <a:off x="3127248" y="1764792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787652" y="2098548"/>
            <a:ext cx="155447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9584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900" b="0">
                <a:solidFill>
                  <a:srgbClr val="1A1A1A"/>
                </a:solidFill>
                <a:latin typeface="Apple SD Gothic Neo"/>
              </a:rPr>
              <a:t>세그먼트화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A1A1A"/>
                </a:solidFill>
                <a:latin typeface="Apple SD Gothic Neo"/>
              </a:rPr>
              <a:t>기본 passthrough</a:t>
            </a:r>
          </a:p>
        </p:txBody>
      </p:sp>
      <p:sp>
        <p:nvSpPr>
          <p:cNvPr id="27" name="Oval 26"/>
          <p:cNvSpPr/>
          <p:nvPr/>
        </p:nvSpPr>
        <p:spPr>
          <a:xfrm>
            <a:off x="4700016" y="1764792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360420" y="2098548"/>
            <a:ext cx="155447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02352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derivative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생성</a:t>
            </a:r>
          </a:p>
        </p:txBody>
      </p:sp>
      <p:sp>
        <p:nvSpPr>
          <p:cNvPr id="30" name="Oval 29"/>
          <p:cNvSpPr/>
          <p:nvPr/>
        </p:nvSpPr>
        <p:spPr>
          <a:xfrm>
            <a:off x="6272783" y="1764792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933188" y="2098548"/>
            <a:ext cx="155448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75120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A1A1A"/>
                </a:solidFill>
                <a:latin typeface="Apple SD Gothic Neo"/>
              </a:rPr>
              <a:t>임베딩</a:t>
            </a:r>
          </a:p>
        </p:txBody>
      </p:sp>
      <p:sp>
        <p:nvSpPr>
          <p:cNvPr id="33" name="Oval 32"/>
          <p:cNvSpPr/>
          <p:nvPr/>
        </p:nvSpPr>
        <p:spPr>
          <a:xfrm>
            <a:off x="7845552" y="1764792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505955" y="2098548"/>
            <a:ext cx="155448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47888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900" b="0">
                <a:solidFill>
                  <a:srgbClr val="1A1A1A"/>
                </a:solidFill>
                <a:latin typeface="Apple SD Gothic Neo"/>
              </a:rPr>
              <a:t>세그먼트 쓰기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A1A1A"/>
                </a:solidFill>
                <a:latin typeface="Apple SD Gothic Neo"/>
              </a:rPr>
              <a:t>segment_store</a:t>
            </a:r>
          </a:p>
        </p:txBody>
      </p:sp>
      <p:sp>
        <p:nvSpPr>
          <p:cNvPr id="36" name="Oval 35"/>
          <p:cNvSpPr/>
          <p:nvPr/>
        </p:nvSpPr>
        <p:spPr>
          <a:xfrm>
            <a:off x="9418319" y="1764792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078724" y="2098548"/>
            <a:ext cx="155447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20656" y="1847088"/>
            <a:ext cx="1389888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1A1A1A"/>
                </a:solidFill>
                <a:latin typeface="Apple SD Gothic Neo"/>
              </a:rPr>
              <a:t>벡터 upsert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A1A1A"/>
                </a:solidFill>
                <a:latin typeface="Apple SD Gothic Neo"/>
              </a:rPr>
              <a:t>(인덱스는 Qdrant 비동기)</a:t>
            </a:r>
          </a:p>
        </p:txBody>
      </p:sp>
      <p:sp>
        <p:nvSpPr>
          <p:cNvPr id="39" name="Oval 38"/>
          <p:cNvSpPr/>
          <p:nvPr/>
        </p:nvSpPr>
        <p:spPr>
          <a:xfrm>
            <a:off x="10991088" y="1764792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651492" y="2098548"/>
            <a:ext cx="155447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651760" y="2450592"/>
            <a:ext cx="0" cy="576072"/>
          </a:xfrm>
          <a:prstGeom prst="line">
            <a:avLst/>
          </a:prstGeom>
          <a:ln w="1397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1760" y="3026664"/>
            <a:ext cx="1152144" cy="0"/>
          </a:xfrm>
          <a:prstGeom prst="line">
            <a:avLst/>
          </a:prstGeom>
          <a:ln w="1397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803904" y="2724912"/>
            <a:ext cx="2075688" cy="603504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00" b="0">
                <a:solidFill>
                  <a:srgbClr val="1A1A1A"/>
                </a:solidFill>
                <a:latin typeface="Apple SD Gothic Neo"/>
              </a:rPr>
              <a:t>시맨틱 추출 LLM</a:t>
            </a:r>
          </a:p>
          <a:p>
            <a:pPr algn="ctr">
              <a:lnSpc>
                <a:spcPct val="95000"/>
              </a:lnSpc>
            </a:pPr>
            <a:r>
              <a:rPr sz="1000" b="0">
                <a:solidFill>
                  <a:srgbClr val="1A1A1A"/>
                </a:solidFill>
                <a:latin typeface="Apple SD Gothic Neo"/>
              </a:rPr>
              <a:t>백그라운드 · 요청 경로 밖</a:t>
            </a:r>
          </a:p>
        </p:txBody>
      </p:sp>
      <p:sp>
        <p:nvSpPr>
          <p:cNvPr id="44" name="Oval 43"/>
          <p:cNvSpPr/>
          <p:nvPr/>
        </p:nvSpPr>
        <p:spPr>
          <a:xfrm>
            <a:off x="5660136" y="2642616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32735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55E"/>
                </a:solidFill>
                <a:latin typeface="Apple SD Gothic Neo"/>
              </a:rPr>
              <a:t>② 검색   POST /memories/search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950" b="0">
                <a:solidFill>
                  <a:srgbClr val="1A1A1A"/>
                </a:solidFill>
                <a:latin typeface="Apple SD Gothic Neo"/>
              </a:rPr>
              <a:t>세션 확보</a:t>
            </a:r>
          </a:p>
          <a:p>
            <a:pPr algn="ctr">
              <a:lnSpc>
                <a:spcPct val="95000"/>
              </a:lnSpc>
            </a:pPr>
            <a:r>
              <a:rPr sz="950" b="0">
                <a:solidFill>
                  <a:srgbClr val="1A1A1A"/>
                </a:solidFill>
                <a:latin typeface="Apple SD Gothic Neo"/>
              </a:rPr>
              <a:t>LRU · RW 락</a:t>
            </a:r>
          </a:p>
        </p:txBody>
      </p:sp>
      <p:sp>
        <p:nvSpPr>
          <p:cNvPr id="47" name="Oval 46"/>
          <p:cNvSpPr/>
          <p:nvPr/>
        </p:nvSpPr>
        <p:spPr>
          <a:xfrm>
            <a:off x="1426463" y="3557016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87651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필터 파싱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· 검증 · 번역</a:t>
            </a:r>
          </a:p>
        </p:txBody>
      </p:sp>
      <p:sp>
        <p:nvSpPr>
          <p:cNvPr id="49" name="Oval 48"/>
          <p:cNvSpPr/>
          <p:nvPr/>
        </p:nvSpPr>
        <p:spPr>
          <a:xfrm>
            <a:off x="2830068" y="3557016"/>
            <a:ext cx="219456" cy="21945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655063" y="3890772"/>
            <a:ext cx="123444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191256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9DCDC"/>
          </a:solidFill>
          <a:ln w="1651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A1A1A"/>
                </a:solidFill>
                <a:latin typeface="Apple SD Gothic Neo"/>
              </a:rPr>
              <a:t>쿼리 임베딩</a:t>
            </a:r>
          </a:p>
        </p:txBody>
      </p:sp>
      <p:sp>
        <p:nvSpPr>
          <p:cNvPr id="52" name="Oval 51"/>
          <p:cNvSpPr/>
          <p:nvPr/>
        </p:nvSpPr>
        <p:spPr>
          <a:xfrm>
            <a:off x="4233671" y="355701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3058668" y="3890772"/>
            <a:ext cx="123444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94859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1A1A"/>
                </a:solidFill>
                <a:latin typeface="Apple SD Gothic Neo"/>
              </a:rPr>
              <a:t>ANN 탐색</a:t>
            </a:r>
          </a:p>
          <a:p>
            <a:pPr algn="ctr">
              <a:lnSpc>
                <a:spcPct val="95000"/>
              </a:lnSpc>
            </a:pPr>
            <a:r>
              <a:rPr sz="950" b="0">
                <a:solidFill>
                  <a:srgbClr val="1A1A1A"/>
                </a:solidFill>
                <a:latin typeface="Apple SD Gothic Neo"/>
              </a:rPr>
              <a:t>+ payload 필터</a:t>
            </a:r>
          </a:p>
        </p:txBody>
      </p:sp>
      <p:sp>
        <p:nvSpPr>
          <p:cNvPr id="55" name="Oval 54"/>
          <p:cNvSpPr/>
          <p:nvPr/>
        </p:nvSpPr>
        <p:spPr>
          <a:xfrm>
            <a:off x="5637275" y="355701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4462271" y="3890772"/>
            <a:ext cx="123444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998464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A1A1A"/>
                </a:solidFill>
                <a:latin typeface="Apple SD Gothic Neo"/>
              </a:rPr>
              <a:t>문맥 walk</a:t>
            </a:r>
          </a:p>
          <a:p>
            <a:pPr algn="ctr">
              <a:lnSpc>
                <a:spcPct val="95000"/>
              </a:lnSpc>
            </a:pPr>
            <a:r>
              <a:rPr sz="950" b="0">
                <a:solidFill>
                  <a:srgbClr val="1A1A1A"/>
                </a:solidFill>
                <a:latin typeface="Apple SD Gothic Neo"/>
              </a:rPr>
              <a:t>기본 off</a:t>
            </a:r>
          </a:p>
          <a:p>
            <a:pPr algn="ctr">
              <a:lnSpc>
                <a:spcPct val="95000"/>
              </a:lnSpc>
            </a:pPr>
            <a:r>
              <a:rPr sz="950" b="0">
                <a:solidFill>
                  <a:srgbClr val="1A1A1A"/>
                </a:solidFill>
                <a:latin typeface="Apple SD Gothic Neo"/>
              </a:rPr>
              <a:t>사용자 키 무인덱스</a:t>
            </a:r>
          </a:p>
        </p:txBody>
      </p:sp>
      <p:sp>
        <p:nvSpPr>
          <p:cNvPr id="58" name="Oval 57"/>
          <p:cNvSpPr/>
          <p:nvPr/>
        </p:nvSpPr>
        <p:spPr>
          <a:xfrm>
            <a:off x="7040879" y="355701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5865875" y="3890772"/>
            <a:ext cx="123444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402068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FBE6C8"/>
          </a:solidFill>
          <a:ln w="16510">
            <a:solidFill>
              <a:srgbClr val="B378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리랭킹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기본 없음</a:t>
            </a:r>
          </a:p>
        </p:txBody>
      </p:sp>
      <p:sp>
        <p:nvSpPr>
          <p:cNvPr id="61" name="Oval 60"/>
          <p:cNvSpPr/>
          <p:nvPr/>
        </p:nvSpPr>
        <p:spPr>
          <a:xfrm>
            <a:off x="8444484" y="355701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7269480" y="3890772"/>
            <a:ext cx="123444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805672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DBE6F6"/>
          </a:solidFill>
          <a:ln w="1651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결과 조립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· 통합</a:t>
            </a:r>
          </a:p>
        </p:txBody>
      </p:sp>
      <p:sp>
        <p:nvSpPr>
          <p:cNvPr id="64" name="Oval 63"/>
          <p:cNvSpPr/>
          <p:nvPr/>
        </p:nvSpPr>
        <p:spPr>
          <a:xfrm>
            <a:off x="9848087" y="3557016"/>
            <a:ext cx="219456" cy="219456"/>
          </a:xfrm>
          <a:prstGeom prst="ellipse">
            <a:avLst/>
          </a:prstGeom>
          <a:solidFill>
            <a:srgbClr val="A3333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✕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8673084" y="3890772"/>
            <a:ext cx="123443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209276" y="3639312"/>
            <a:ext cx="1261872" cy="603504"/>
          </a:xfrm>
          <a:prstGeom prst="roundRect">
            <a:avLst>
              <a:gd name="adj" fmla="val 12000"/>
            </a:avLst>
          </a:prstGeom>
          <a:solidFill>
            <a:srgbClr val="CDEAE4"/>
          </a:solidFill>
          <a:ln w="1651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원문 복원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1A1A1A"/>
                </a:solidFill>
                <a:latin typeface="Apple SD Gothic Neo"/>
              </a:rPr>
              <a:t>PK 조회</a:t>
            </a:r>
          </a:p>
        </p:txBody>
      </p:sp>
      <p:sp>
        <p:nvSpPr>
          <p:cNvPr id="67" name="Oval 66"/>
          <p:cNvSpPr/>
          <p:nvPr/>
        </p:nvSpPr>
        <p:spPr>
          <a:xfrm>
            <a:off x="11251691" y="3557016"/>
            <a:ext cx="219456" cy="21945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10076688" y="3890772"/>
            <a:ext cx="123443" cy="100584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4048" y="4590288"/>
            <a:ext cx="11420856" cy="181051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7000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결론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5800" y="5042916"/>
            <a:ext cx="182880" cy="137160"/>
          </a:xfrm>
          <a:prstGeom prst="roundRect">
            <a:avLst>
              <a:gd name="adj" fmla="val 25000"/>
            </a:avLst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5029200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Apple SD Gothic Neo"/>
              </a:rPr>
              <a:t>자체 수행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5029200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세션 관리 · 세그먼트화 · 필터 번역 · 결과 조립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26679" y="5029200"/>
            <a:ext cx="4023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Apple SD Gothic Neo"/>
              </a:rPr>
              <a:t>대부분 in-process 경량 조율 — event 기본 세그먼터는 passthrough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5800" y="5381244"/>
            <a:ext cx="182880" cy="137160"/>
          </a:xfrm>
          <a:prstGeom prst="roundRect">
            <a:avLst>
              <a:gd name="adj" fmla="val 25000"/>
            </a:avLst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5367528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Apple SD Gothic Neo"/>
              </a:rPr>
              <a:t>외부 요청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5367528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임베딩 · 벡터 upsert/ANN 탐색 · 세그먼트 DB 읽기·쓰기 · 원문 복원 · LLM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6679" y="5367528"/>
            <a:ext cx="4023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Apple SD Gothic Neo"/>
              </a:rPr>
              <a:t>규모에 민감한 연산은 전부 외부 — LLM은 시맨틱 백그라운드·agent_mode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5800" y="5719572"/>
            <a:ext cx="182880" cy="137160"/>
          </a:xfrm>
          <a:prstGeom prst="roundRect">
            <a:avLst>
              <a:gd name="adj" fmla="val 25000"/>
            </a:avLst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" y="5705856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Apple SD Gothic Neo"/>
              </a:rPr>
              <a:t>증폭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5705856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agent_mode 검색 1건 = 최대 벡터검색·DB 약 22배 (최적화 CoQ + overlap 20 가득 시)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26679" y="5705856"/>
            <a:ext cx="4023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Apple SD Gothic Neo"/>
              </a:rPr>
              <a:t>LLM 미설정(기본)은 일반 검색 1회 · 설정 시 1~6회 — 유도값·미측정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5800" y="6057900"/>
            <a:ext cx="182880" cy="137160"/>
          </a:xfrm>
          <a:prstGeom prst="roundRect">
            <a:avLst>
              <a:gd name="adj" fmla="val 25000"/>
            </a:avLst>
          </a:prstGeom>
          <a:solidFill>
            <a:srgbClr val="FBE6C8"/>
          </a:solidFill>
          <a:ln w="1270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6044184"/>
            <a:ext cx="1097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1A1A"/>
                </a:solidFill>
                <a:latin typeface="Apple SD Gothic Neo"/>
              </a:rPr>
              <a:t>단, 예외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6044184"/>
            <a:ext cx="55778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캐시 miss 시 세션 write 락 안 cold open · 캐시 100 초과 시 idle evict → 재open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6679" y="6044184"/>
            <a:ext cx="4023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55555"/>
                </a:solidFill>
                <a:latin typeface="Apple SD Gothic Neo"/>
              </a:rPr>
              <a:t>캐시 락 자체는 대기 아님 · 전부 무계측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048" y="6528816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88888"/>
                </a:solidFill>
                <a:latin typeface="Apple SD Gothic Neo"/>
              </a:rPr>
              <a:t>근거: event_memory.py phase 타이머 (적재 :293 / 검색 :502) · tools/sizing/README.md · 기준 upstream/speedkick acb4f9a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pple SD Gothic Neo"/>
              </a:rPr>
              <a:t>계측 현황 — 이미 측정되는 단계 vs 없는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8D4E6"/>
                </a:solidFill>
                <a:latin typeface="Menlo"/>
              </a:rPr>
              <a:t>표기  phase=X → event_memory_*_phase_seconds{phase=X}  ·  prefix{op} → prefix_latency_seconds{operation=op}  ·  /api/v2/metrics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32688"/>
            <a:ext cx="5577840" cy="310896"/>
          </a:xfrm>
          <a:prstGeom prst="roundRect">
            <a:avLst>
              <a:gd name="adj" fmla="val 20000"/>
            </a:avLst>
          </a:prstGeom>
          <a:solidFill>
            <a:srgbClr val="1F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996696"/>
            <a:ext cx="5394959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⏱ 이미 측정됨 — 10단계</a:t>
            </a:r>
          </a:p>
        </p:txBody>
      </p:sp>
      <p:sp>
        <p:nvSpPr>
          <p:cNvPr id="7" name="Oval 6"/>
          <p:cNvSpPr/>
          <p:nvPr/>
        </p:nvSpPr>
        <p:spPr>
          <a:xfrm>
            <a:off x="438912" y="1399032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3" y="1339596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35331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353312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원문 INSERT … RETURNING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536192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episode_store_sqlalchemy{add_episodes}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" y="1801368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3" y="1741932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175564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755648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세그먼트화 기본 passthrough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38528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phase=segmentation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" y="2203703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3503" y="2144268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2157984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2157984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derivative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2340864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phase=derivation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" y="2606039"/>
            <a:ext cx="109728" cy="109728"/>
          </a:xfrm>
          <a:prstGeom prst="ellipse">
            <a:avLst/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3" y="2546603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560320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2560320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임베딩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2743200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phase=embedding · embedder_openai{ingest_embed} (OpenAI만)</a:t>
            </a:r>
          </a:p>
        </p:txBody>
      </p:sp>
      <p:sp>
        <p:nvSpPr>
          <p:cNvPr id="27" name="Oval 26"/>
          <p:cNvSpPr/>
          <p:nvPr/>
        </p:nvSpPr>
        <p:spPr>
          <a:xfrm>
            <a:off x="438912" y="3008375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3" y="2948939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2962656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2962656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세그먼트 쓰기 segment_store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3145536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phase=segment_store · segment_store_sqlalchemy{add_segments}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" y="3410711"/>
            <a:ext cx="109728" cy="109728"/>
          </a:xfrm>
          <a:prstGeom prst="ellipse">
            <a:avLst/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503" y="3351275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3364991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3364991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쿼리 임베딩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3547872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phase=embedding · embedder_openai{search_embed} (OpenAI만)</a:t>
            </a:r>
          </a:p>
        </p:txBody>
      </p:sp>
      <p:sp>
        <p:nvSpPr>
          <p:cNvPr id="37" name="Oval 36"/>
          <p:cNvSpPr/>
          <p:nvPr/>
        </p:nvSpPr>
        <p:spPr>
          <a:xfrm>
            <a:off x="438912" y="3813048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3503" y="3753612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376732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2728" y="3767328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ANN 탐색 + payload 필터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950208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phase=vector_query · vector_store_qdrant{query}</a:t>
            </a:r>
          </a:p>
        </p:txBody>
      </p:sp>
      <p:sp>
        <p:nvSpPr>
          <p:cNvPr id="42" name="Oval 41"/>
          <p:cNvSpPr/>
          <p:nvPr/>
        </p:nvSpPr>
        <p:spPr>
          <a:xfrm>
            <a:off x="438912" y="4215384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3503" y="4155948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4169664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2728" y="4169664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문맥 walk 기본 off 사용자 키 무인덱스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4352544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phase=segment_query · segment_store_sqlalchemy{get_segment_contexts}</a:t>
            </a:r>
          </a:p>
        </p:txBody>
      </p:sp>
      <p:sp>
        <p:nvSpPr>
          <p:cNvPr id="47" name="Oval 46"/>
          <p:cNvSpPr/>
          <p:nvPr/>
        </p:nvSpPr>
        <p:spPr>
          <a:xfrm>
            <a:off x="438912" y="4617720"/>
            <a:ext cx="109728" cy="109728"/>
          </a:xfrm>
          <a:prstGeom prst="ellipse">
            <a:avLst/>
          </a:prstGeom>
          <a:solidFill>
            <a:srgbClr val="FBE6C8"/>
          </a:solidFill>
          <a:ln w="1270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3503" y="4558284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4572000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2728" y="4572000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리랭킹 기본 없음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" y="4754880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phase=scoring · reranker_amazon_bedrock{score} (Bedrock만)</a:t>
            </a:r>
          </a:p>
        </p:txBody>
      </p:sp>
      <p:sp>
        <p:nvSpPr>
          <p:cNvPr id="52" name="Oval 51"/>
          <p:cNvSpPr/>
          <p:nvPr/>
        </p:nvSpPr>
        <p:spPr>
          <a:xfrm>
            <a:off x="438912" y="5020056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3503" y="4960620"/>
            <a:ext cx="182880" cy="182880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4974336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2728" y="4974336"/>
            <a:ext cx="4663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원문 복원 PK 조회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7" y="5157216"/>
            <a:ext cx="5074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episode_store_sqlalchemy{get_episodes}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932688"/>
            <a:ext cx="5586984" cy="310896"/>
          </a:xfrm>
          <a:prstGeom prst="roundRect">
            <a:avLst>
              <a:gd name="adj" fmla="val 20000"/>
            </a:avLst>
          </a:prstGeom>
          <a:solidFill>
            <a:srgbClr val="A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996696"/>
            <a:ext cx="540410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◐ 부분 · ✕ 없음 — 6단계</a:t>
            </a:r>
          </a:p>
        </p:txBody>
      </p:sp>
      <p:sp>
        <p:nvSpPr>
          <p:cNvPr id="59" name="Oval 58"/>
          <p:cNvSpPr/>
          <p:nvPr/>
        </p:nvSpPr>
        <p:spPr>
          <a:xfrm>
            <a:off x="6272783" y="1399032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37376" y="1339596"/>
            <a:ext cx="182880" cy="182880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135331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1353312"/>
            <a:ext cx="4672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세션 확보 LRU·RW 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1536192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캐시 hit 경로 없음 · miss 시만 session_store·segment_store{open_or_create_partition}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1691640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33333"/>
                </a:solidFill>
                <a:latin typeface="Apple SD Gothic Neo"/>
              </a:rPr>
              <a:t>없는 것: write 락 안 cold open 시간 · LRU hit/miss/축출 · 인스턴스 수</a:t>
            </a:r>
          </a:p>
        </p:txBody>
      </p:sp>
      <p:sp>
        <p:nvSpPr>
          <p:cNvPr id="65" name="Oval 64"/>
          <p:cNvSpPr/>
          <p:nvPr/>
        </p:nvSpPr>
        <p:spPr>
          <a:xfrm>
            <a:off x="6272783" y="1947672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437376" y="1888236"/>
            <a:ext cx="182880" cy="182880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190195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600" y="1901952"/>
            <a:ext cx="4672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벡터 upsert (인덱스는 Qdrant 비동기)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2084832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phase=vector_store · vector_store_qdrant{upsert}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2240280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33333"/>
                </a:solidFill>
                <a:latin typeface="Apple SD Gothic Neo"/>
              </a:rPr>
              <a:t>없는 것: Qdrant 인덱스 빌드 — 앱에서 관측 불가 (Qdrant /metrics 필요)</a:t>
            </a:r>
          </a:p>
        </p:txBody>
      </p:sp>
      <p:sp>
        <p:nvSpPr>
          <p:cNvPr id="71" name="Oval 70"/>
          <p:cNvSpPr/>
          <p:nvPr/>
        </p:nvSpPr>
        <p:spPr>
          <a:xfrm>
            <a:off x="6272783" y="2496312"/>
            <a:ext cx="109728" cy="109728"/>
          </a:xfrm>
          <a:prstGeom prst="ellipse">
            <a:avLst/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37376" y="2436876"/>
            <a:ext cx="182880" cy="182880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245059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86600" y="2450592"/>
            <a:ext cx="4672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시맨틱 추출 LLM 백그라운드·요청 경로 밖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2633472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language_model_&lt;provider&gt;{generate_parsed_response} — LLM 호출만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75120" y="2788920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33333"/>
                </a:solidFill>
                <a:latin typeface="Apple SD Gothic Neo"/>
              </a:rPr>
              <a:t>없는 것: 시맨틱 적재 자체 · 백그라운드 큐 지연</a:t>
            </a:r>
          </a:p>
        </p:txBody>
      </p:sp>
      <p:sp>
        <p:nvSpPr>
          <p:cNvPr id="77" name="Oval 76"/>
          <p:cNvSpPr/>
          <p:nvPr/>
        </p:nvSpPr>
        <p:spPr>
          <a:xfrm>
            <a:off x="6272783" y="3044952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437376" y="2985516"/>
            <a:ext cx="182880" cy="182880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299923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2999232"/>
            <a:ext cx="4672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세션 확보 LRU·RW 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0" y="3182112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캐시 hit 경로 없음 · miss 시만 session_store·segment_store{open_or_create_partition}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75120" y="3337560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33333"/>
                </a:solidFill>
                <a:latin typeface="Apple SD Gothic Neo"/>
              </a:rPr>
              <a:t>없는 것: write 락 안 cold open 시간 · LRU hit/miss</a:t>
            </a:r>
          </a:p>
        </p:txBody>
      </p:sp>
      <p:sp>
        <p:nvSpPr>
          <p:cNvPr id="83" name="Oval 82"/>
          <p:cNvSpPr/>
          <p:nvPr/>
        </p:nvSpPr>
        <p:spPr>
          <a:xfrm>
            <a:off x="6272783" y="3593592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437376" y="3534156"/>
            <a:ext cx="182880" cy="182880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354787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86600" y="3547872"/>
            <a:ext cx="4672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필터 파싱·검증·번역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75120" y="3730752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저장소측 검증·번역만 vector_store_qdrant{query} 안에 섞임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0" y="3886200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33333"/>
                </a:solidFill>
                <a:latin typeface="Apple SD Gothic Neo"/>
              </a:rPr>
              <a:t>없는 것: parse_filter · LTM _validate_event_backend_filter</a:t>
            </a:r>
          </a:p>
        </p:txBody>
      </p:sp>
      <p:sp>
        <p:nvSpPr>
          <p:cNvPr id="89" name="Oval 88"/>
          <p:cNvSpPr/>
          <p:nvPr/>
        </p:nvSpPr>
        <p:spPr>
          <a:xfrm>
            <a:off x="6272783" y="4142232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437376" y="4082796"/>
            <a:ext cx="182880" cy="182880"/>
          </a:xfrm>
          <a:prstGeom prst="ellipse">
            <a:avLst/>
          </a:prstGeom>
          <a:solidFill>
            <a:srgbClr val="A3333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75120" y="409651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86600" y="4096512"/>
            <a:ext cx="4672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결과 조립·통합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75120" y="4279392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F4E79"/>
                </a:solidFill>
                <a:latin typeface="Menlo"/>
              </a:rPr>
              <a:t>없음 — EventMemory 계측 구간이 끝난 뒤 실행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4434840"/>
            <a:ext cx="508406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33333"/>
                </a:solidFill>
                <a:latin typeface="Apple SD Gothic Neo"/>
              </a:rPr>
              <a:t>없는 것: 임계값·중복제거·창→에피소드 통합 (expand&gt;0)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4048" y="5760720"/>
            <a:ext cx="11420856" cy="786384"/>
          </a:xfrm>
          <a:prstGeom prst="roundRect">
            <a:avLst>
              <a:gd name="adj" fmla="val 13000"/>
            </a:avLst>
          </a:prstGeom>
          <a:solidFill>
            <a:srgbClr val="F3F6FA"/>
          </a:solidFill>
          <a:ln w="13970">
            <a:solidFill>
              <a:srgbClr val="8CA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3504" y="5852159"/>
            <a:ext cx="109728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55E"/>
                </a:solidFill>
                <a:latin typeface="Apple SD Gothic Neo"/>
              </a:rPr>
              <a:t>단계 밖에서도 잡히는 것 (전체 요청 단위 — 단계 분리 불가)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3504" y="6071616"/>
            <a:ext cx="10972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555555"/>
                </a:solidFill>
                <a:latin typeface="Menlo"/>
              </a:rPr>
              <a:t>http_request_duration_seconds{method,path,status}  server/middleware.py:61      ·      query_latency / Ingestion_latency (Summary, ms)  episodic_memory.py:132-137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3504" y="6254496"/>
            <a:ext cx="10972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33333"/>
                </a:solidFill>
                <a:latin typeface="Apple SD Gothic Neo"/>
              </a:rPr>
              <a:t>없는 지표 유형: Gauge(동시 실행 수) 사용처 0건 → 다수 요청 시 '대기'와 '처리'를 구분할 수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FFFF"/>
                </a:solidFill>
                <a:latin typeface="Apple SD Gothic Neo"/>
              </a:rPr>
              <a:t>단계별 코드 위치 — trace 삽입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8D4E6"/>
                </a:solidFill>
                <a:latin typeface="Menlo"/>
              </a:rPr>
              <a:t>기준 upstream/speedkick acb4f9a    ·    경로 접두사  packages/server/src/memmachine_server/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1440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55E"/>
                </a:solidFill>
                <a:latin typeface="Apple SD Gothic Neo"/>
              </a:rPr>
              <a:t>① 적재   POST /memories</a:t>
            </a:r>
          </a:p>
        </p:txBody>
      </p:sp>
      <p:sp>
        <p:nvSpPr>
          <p:cNvPr id="6" name="Oval 5"/>
          <p:cNvSpPr/>
          <p:nvPr/>
        </p:nvSpPr>
        <p:spPr>
          <a:xfrm>
            <a:off x="402336" y="1261872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197864"/>
            <a:ext cx="173736" cy="17373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225296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25296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세션 확보 LRU·RW 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episodic_memory/episodic_memory_manager.py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40764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memmachine.py:767 → 228 open_or_create · 253 read_lock · 254 get · 256 write_lock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" y="1796796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732788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760220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760220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원문 INSERT … RETURNING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933956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main/memmachine.py · common/episode_store/episode_sqlalchemy_store.py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075688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755 호출 → 192 @timed · 193 add_episodes · 228 INSERT…RETURNING</a:t>
            </a:r>
          </a:p>
        </p:txBody>
      </p:sp>
      <p:sp>
        <p:nvSpPr>
          <p:cNvPr id="18" name="Oval 17"/>
          <p:cNvSpPr/>
          <p:nvPr/>
        </p:nvSpPr>
        <p:spPr>
          <a:xfrm>
            <a:off x="402336" y="2331720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2267712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295144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295144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세그먼트화 기본 passthrough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468879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episodic_memory/event_memory/segmenter/passthrough_segmenter.py · text_segmenter.py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610611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event_memory.py:234 호출 → passthrough 20-38(기본) · text 70 segment · 80 split_text</a:t>
            </a:r>
          </a:p>
        </p:txBody>
      </p:sp>
      <p:sp>
        <p:nvSpPr>
          <p:cNvPr id="24" name="Oval 23"/>
          <p:cNvSpPr/>
          <p:nvPr/>
        </p:nvSpPr>
        <p:spPr>
          <a:xfrm>
            <a:off x="402336" y="2866644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2802636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83006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830068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derivative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003803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episodic_memory/event_memory/deriver/text_deriver.py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145535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event_memory.py:245 호출 → 75 WholeTextDeriver.derive · 60 uuid4()</a:t>
            </a:r>
          </a:p>
        </p:txBody>
      </p:sp>
      <p:sp>
        <p:nvSpPr>
          <p:cNvPr id="30" name="Oval 29"/>
          <p:cNvSpPr/>
          <p:nvPr/>
        </p:nvSpPr>
        <p:spPr>
          <a:xfrm>
            <a:off x="402336" y="3401568"/>
            <a:ext cx="109728" cy="109728"/>
          </a:xfrm>
          <a:prstGeom prst="ellipse">
            <a:avLst/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3337560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364991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364991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임베딩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538727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episodic_memory/event_memory/event_memory.py · common/embedder/openai_embedder.py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680459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event_memory.py:269 ingest_embed() · openai_embedder.py:116 tracker</a:t>
            </a:r>
          </a:p>
        </p:txBody>
      </p:sp>
      <p:sp>
        <p:nvSpPr>
          <p:cNvPr id="36" name="Oval 35"/>
          <p:cNvSpPr/>
          <p:nvPr/>
        </p:nvSpPr>
        <p:spPr>
          <a:xfrm>
            <a:off x="402336" y="3936491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8640" y="3872483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3899915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899915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세그먼트 쓰기 segment_store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073652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episodic_memory/event_memory/event_memory.py · segment_store/sqlalchemy_segment_store.py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5383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event_memory.py:272 add_segments() · sqlalchemy_segment_store.py:342 tracker</a:t>
            </a:r>
          </a:p>
        </p:txBody>
      </p:sp>
      <p:sp>
        <p:nvSpPr>
          <p:cNvPr id="42" name="Oval 41"/>
          <p:cNvSpPr/>
          <p:nvPr/>
        </p:nvSpPr>
        <p:spPr>
          <a:xfrm>
            <a:off x="402336" y="4471416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" y="4407407"/>
            <a:ext cx="173736" cy="17373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4434840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4434840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벡터 upsert (인덱스는 Qdrant 비동기)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608576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episodic_memory/event_memory/event_memory.py · common/vector_store/qdrant_vector_store.py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750307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event_memory.py:290 upsert() · qdrant_vector_store.py:300 tracker</a:t>
            </a:r>
          </a:p>
        </p:txBody>
      </p:sp>
      <p:sp>
        <p:nvSpPr>
          <p:cNvPr id="48" name="Oval 47"/>
          <p:cNvSpPr/>
          <p:nvPr/>
        </p:nvSpPr>
        <p:spPr>
          <a:xfrm>
            <a:off x="402336" y="5006340"/>
            <a:ext cx="109728" cy="109728"/>
          </a:xfrm>
          <a:prstGeom prst="ellipse">
            <a:avLst/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4942331"/>
            <a:ext cx="173736" cy="17373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" y="4969764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A10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4969764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시맨틱 추출 LLM 백그라운드·요청 경로 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5143500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semantic_memory/semantic_session_manager.py · semantic_memory/semantic_memory.py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285231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memmachine.py:782 → session_manager 138 (LLM 없음) · semantic_memory 783 백그라운드(5건/5분)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91440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55E"/>
                </a:solidFill>
                <a:latin typeface="Apple SD Gothic Neo"/>
              </a:rPr>
              <a:t>② 검색   POST /memories/search</a:t>
            </a:r>
          </a:p>
        </p:txBody>
      </p:sp>
      <p:sp>
        <p:nvSpPr>
          <p:cNvPr id="55" name="Oval 54"/>
          <p:cNvSpPr/>
          <p:nvPr/>
        </p:nvSpPr>
        <p:spPr>
          <a:xfrm>
            <a:off x="6327648" y="1261872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73952" y="1197864"/>
            <a:ext cx="173736" cy="17373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93408" y="1225296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4032" y="1225296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세션 확보 LRU·RW 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1399032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episodic_memory/episodic_memory_manager.py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1540764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memmachine.py:826 → 228 open_or_create · 253 read_lock · 254 get · 256 write_lock</a:t>
            </a:r>
          </a:p>
        </p:txBody>
      </p:sp>
      <p:sp>
        <p:nvSpPr>
          <p:cNvPr id="61" name="Oval 60"/>
          <p:cNvSpPr/>
          <p:nvPr/>
        </p:nvSpPr>
        <p:spPr>
          <a:xfrm>
            <a:off x="6327648" y="1796796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73952" y="1732788"/>
            <a:ext cx="173736" cy="173736"/>
          </a:xfrm>
          <a:prstGeom prst="ellipse">
            <a:avLst/>
          </a:prstGeom>
          <a:solidFill>
            <a:srgbClr val="B378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3408" y="1760220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4032" y="1760220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필터 파싱·검증·번역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1933956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main/memmachine.py · common/filter/filter_parser.py · long_term_memory.py · event_memory.py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2075688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memmachine.py:1037 parse_filter · filter_parser.py:400 · LTM 316→586 검증 · EM 338 번역</a:t>
            </a:r>
          </a:p>
        </p:txBody>
      </p:sp>
      <p:sp>
        <p:nvSpPr>
          <p:cNvPr id="67" name="Oval 66"/>
          <p:cNvSpPr/>
          <p:nvPr/>
        </p:nvSpPr>
        <p:spPr>
          <a:xfrm>
            <a:off x="6327648" y="2331720"/>
            <a:ext cx="109728" cy="109728"/>
          </a:xfrm>
          <a:prstGeom prst="ellipse">
            <a:avLst/>
          </a:prstGeom>
          <a:solidFill>
            <a:srgbClr val="F9DCDC"/>
          </a:solidFill>
          <a:ln w="12700">
            <a:solidFill>
              <a:srgbClr val="A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473952" y="2267712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93408" y="2295144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4032" y="2295144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쿼리 임베딩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2468879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episodic_memory/event_memory/event_memory.py · common/embedder/openai_embedder.py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2610611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event_memory.py:406 search_embed() · openai_embedder.py:125 tracker</a:t>
            </a:r>
          </a:p>
        </p:txBody>
      </p:sp>
      <p:sp>
        <p:nvSpPr>
          <p:cNvPr id="73" name="Oval 72"/>
          <p:cNvSpPr/>
          <p:nvPr/>
        </p:nvSpPr>
        <p:spPr>
          <a:xfrm>
            <a:off x="6327648" y="2866644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473952" y="2802636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93408" y="2830068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14032" y="2830068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ANN 탐색 + payload 필터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3003803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episodic_memory/event_memory/event_memory.py · common/vector_store/qdrant_vector_store.py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2240" y="3145535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EM 420 query() → Qdrant 331 query · 340 tracker · 352 파티션 강제 AND</a:t>
            </a:r>
          </a:p>
        </p:txBody>
      </p:sp>
      <p:sp>
        <p:nvSpPr>
          <p:cNvPr id="79" name="Oval 78"/>
          <p:cNvSpPr/>
          <p:nvPr/>
        </p:nvSpPr>
        <p:spPr>
          <a:xfrm>
            <a:off x="6327648" y="3401568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473952" y="3337560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3408" y="3364991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14032" y="3364991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문맥 walk 기본 off 사용자 키 무인덱스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3538727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episodic_memory/event_memory/segment_store/sqlalchemy_segment_store.py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92240" y="3680459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EM 450 호출 → 401 get_segment_contexts · 414 tracker · 489 LATERAL · 838 필드해석</a:t>
            </a:r>
          </a:p>
        </p:txBody>
      </p:sp>
      <p:sp>
        <p:nvSpPr>
          <p:cNvPr id="85" name="Oval 84"/>
          <p:cNvSpPr/>
          <p:nvPr/>
        </p:nvSpPr>
        <p:spPr>
          <a:xfrm>
            <a:off x="6327648" y="3936491"/>
            <a:ext cx="109728" cy="109728"/>
          </a:xfrm>
          <a:prstGeom prst="ellipse">
            <a:avLst/>
          </a:prstGeom>
          <a:solidFill>
            <a:srgbClr val="FBE6C8"/>
          </a:solidFill>
          <a:ln w="12700">
            <a:solidFill>
              <a:srgbClr val="B3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473952" y="3872483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93408" y="3899915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14032" y="3899915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리랭킹 기본 없음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4073652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episodic_memory/event_memory/event_memory.py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92240" y="4215383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EM 480 호출 → 524 _score_segment_contexts</a:t>
            </a:r>
          </a:p>
        </p:txBody>
      </p:sp>
      <p:sp>
        <p:nvSpPr>
          <p:cNvPr id="91" name="Oval 90"/>
          <p:cNvSpPr/>
          <p:nvPr/>
        </p:nvSpPr>
        <p:spPr>
          <a:xfrm>
            <a:off x="6327648" y="4471416"/>
            <a:ext cx="109728" cy="109728"/>
          </a:xfrm>
          <a:prstGeom prst="ellipse">
            <a:avLst/>
          </a:prstGeom>
          <a:solidFill>
            <a:srgbClr val="DBE6F6"/>
          </a:solidFill>
          <a:ln w="12700">
            <a:solidFill>
              <a:srgbClr val="2F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473952" y="4407407"/>
            <a:ext cx="173736" cy="173736"/>
          </a:xfrm>
          <a:prstGeom prst="ellipse">
            <a:avLst/>
          </a:prstGeom>
          <a:solidFill>
            <a:srgbClr val="A33333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3408" y="4434840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2" y="4434840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결과 조립·통합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92240" y="4608576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episodic_memory/long_term_memory/long_term_memory.py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92240" y="4750307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358 uid 추출 · 660 _unify_scored_uid_contexts (expand_context&gt;0일 때만)</a:t>
            </a:r>
          </a:p>
        </p:txBody>
      </p:sp>
      <p:sp>
        <p:nvSpPr>
          <p:cNvPr id="97" name="Oval 96"/>
          <p:cNvSpPr/>
          <p:nvPr/>
        </p:nvSpPr>
        <p:spPr>
          <a:xfrm>
            <a:off x="6327648" y="5006340"/>
            <a:ext cx="109728" cy="109728"/>
          </a:xfrm>
          <a:prstGeom prst="ellipse">
            <a:avLst/>
          </a:prstGeom>
          <a:solidFill>
            <a:srgbClr val="CDEAE4"/>
          </a:solidFill>
          <a:ln w="12700">
            <a:solidFill>
              <a:srgbClr val="1F7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473952" y="4942331"/>
            <a:ext cx="173736" cy="173736"/>
          </a:xfrm>
          <a:prstGeom prst="ellipse">
            <a:avLst/>
          </a:prstGeom>
          <a:solidFill>
            <a:srgbClr val="1F7A6A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93408" y="4969764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55555"/>
                </a:solidFill>
                <a:latin typeface="Menlo"/>
              </a:rPr>
              <a:t>S8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14032" y="4969764"/>
            <a:ext cx="47548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Apple SD Gothic Neo"/>
              </a:rPr>
              <a:t>원문 복원 PK 조회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92240" y="5143500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1F4E79"/>
                </a:solidFill>
                <a:latin typeface="Menlo"/>
              </a:rPr>
              <a:t>long_term_memory/long_term_memory.py · common/episode_store/episode_sqlalchemy_store.py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92240" y="5285231"/>
            <a:ext cx="55778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6B6B6B"/>
                </a:solidFill>
                <a:latin typeface="Menlo"/>
              </a:rPr>
              <a:t>LTM 369 (또는 667) → store 259 @timed · 274 WHERE id IN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144768" y="914400"/>
            <a:ext cx="0" cy="4645152"/>
          </a:xfrm>
          <a:prstGeom prst="line">
            <a:avLst/>
          </a:prstGeom>
          <a:ln w="1397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384048" y="5687568"/>
            <a:ext cx="11420856" cy="87782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3970">
            <a:solidFill>
              <a:srgbClr val="8CA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3504" y="5769864"/>
            <a:ext cx="5486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355E"/>
                </a:solidFill>
                <a:latin typeface="Apple SD Gothic Neo"/>
              </a:rPr>
              <a:t>새로 심기 전에 — 이미 있는 훅부터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3504" y="5980176"/>
            <a:ext cx="10972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555555"/>
                </a:solidFill>
                <a:latin typeface="Menlo"/>
              </a:rPr>
              <a:t>구간 추가: event_memory.py:293(적재)/502(검색) phase_durations  →  히스토그램 :166/171  event_memory_{encode_events,query}_phase_seconds{phase}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3504" y="6163056"/>
            <a:ext cx="10972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555555"/>
                </a:solidFill>
                <a:latin typeface="Menlo"/>
              </a:rPr>
              <a:t>컴포넌트 단위: async with self._tracker("op") (operation_tracker.py:37) · 메서드 단위: @timed("op") (timed.py:32) → {prefix}_latency_seconds{operation,status}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" y="6345936"/>
            <a:ext cx="109728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A33333"/>
                </a:solidFill>
                <a:latin typeface="Apple SD Gothic Neo"/>
              </a:rPr>
              <a:t>새로 필요한 곳: A1/S1 락·캐시 · S2 파싱·LTM 검증 · S7 결과 조립 · LTM:242 Episode→Event 변환 · 로컬 리랭커/임베더 · Gauge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