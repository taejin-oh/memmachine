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224528"/>
            <a:ext cx="12191695" cy="50292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965960"/>
            <a:ext cx="10332720" cy="9144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Malgun Gothic"/>
                <a:ea typeface="Malgun Gothic"/>
              </a:rPr>
              <a:t>MemMachine × 벡터DB 연계 구조 분석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" y="2971800"/>
            <a:ext cx="1033272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900" b="0" i="0">
                <a:solidFill>
                  <a:srgbClr val="C9D4E3"/>
                </a:solidFill>
                <a:latin typeface="Malgun Gothic"/>
                <a:ea typeface="Malgun Gothic"/>
              </a:rPr>
              <a:t>Qdrant · Milvus는 MemMachine의 기억을 어떻게 나누고, 찾는가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" y="4434840"/>
            <a:ext cx="1033272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0" i="0">
                <a:solidFill>
                  <a:srgbClr val="9FB3CC"/>
                </a:solidFill>
                <a:latin typeface="Malgun Gothic"/>
                <a:ea typeface="Malgun Gothic"/>
              </a:rPr>
              <a:t>다중 사용자 LTM 과제 · 코드 실측 기반 (upstream/main 2d28c1c, 무수정)</a:t>
            </a:r>
          </a:p>
          <a:p>
            <a:pPr algn="l"/>
            <a:r>
              <a:rPr sz="1300" b="0" i="0">
                <a:solidFill>
                  <a:srgbClr val="9FB3CC"/>
                </a:solidFill>
                <a:latin typeface="Malgun Gothic"/>
                <a:ea typeface="Malgun Gothic"/>
              </a:rPr>
              <a:t>2026. 08.  ·  오태진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241280" cy="6400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Malgun Gothic"/>
                <a:ea typeface="Malgun Gothic"/>
              </a:rPr>
              <a:t>왜 코드 수준까지 확인했나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85855" y="201168"/>
            <a:ext cx="64008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200" b="0" i="0">
                <a:solidFill>
                  <a:srgbClr val="9FB3CC"/>
                </a:solidFill>
                <a:latin typeface="Malgun Gothic"/>
                <a:ea typeface="Malgun Gothic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51560"/>
            <a:ext cx="1115568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600" b="1" i="0">
                <a:solidFill>
                  <a:srgbClr val="1F2937"/>
                </a:solidFill>
                <a:latin typeface="Malgun Gothic"/>
                <a:ea typeface="Malgun Gothic"/>
              </a:rPr>
              <a:t>다중 사용자 확장의 병목과 개선 지점을 추측이 아니라 코드로 확정하기 위함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691640"/>
            <a:ext cx="3566160" cy="141732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300" b="1" i="0">
                <a:solidFill>
                  <a:srgbClr val="1F2937"/>
                </a:solidFill>
                <a:latin typeface="Malgun Gothic"/>
                <a:ea typeface="Malgun Gothic"/>
              </a:rPr>
              <a:t>1단계 (완료)</a:t>
            </a:r>
          </a:p>
          <a:p>
            <a:pPr algn="ctr"/>
            <a:r>
              <a:rPr sz="1300" b="0" i="0">
                <a:solidFill>
                  <a:srgbClr val="1F2937"/>
                </a:solidFill>
                <a:latin typeface="Malgun Gothic"/>
                <a:ea typeface="Malgun Gothic"/>
              </a:rPr>
              <a:t>개인 사용자 · 정확도</a:t>
            </a:r>
          </a:p>
          <a:p>
            <a:pPr algn="ctr"/>
          </a:p>
          <a:p>
            <a:pPr algn="ctr"/>
            <a:r>
              <a:rPr sz="1300" b="0" i="0">
                <a:solidFill>
                  <a:srgbClr val="1F2937"/>
                </a:solidFill>
                <a:latin typeface="Malgun Gothic"/>
                <a:ea typeface="Malgun Gothic"/>
              </a:rPr>
              <a:t>adaptive-k 개발 → 특허 진행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160520" y="2395728"/>
            <a:ext cx="548640" cy="0"/>
          </a:xfrm>
          <a:prstGeom prst="line">
            <a:avLst/>
          </a:prstGeom>
          <a:ln w="27940">
            <a:solidFill>
              <a:srgbClr val="6B7280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4754880" y="1691640"/>
            <a:ext cx="3566160" cy="1417320"/>
          </a:xfrm>
          <a:prstGeom prst="roundRect">
            <a:avLst>
              <a:gd name="adj" fmla="val 8000"/>
            </a:avLst>
          </a:prstGeom>
          <a:solidFill>
            <a:srgbClr val="E6F2F0"/>
          </a:solidFill>
          <a:ln w="1905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300" b="1" i="0">
                <a:solidFill>
                  <a:srgbClr val="1F2937"/>
                </a:solidFill>
                <a:latin typeface="Malgun Gothic"/>
                <a:ea typeface="Malgun Gothic"/>
              </a:rPr>
              <a:t>2단계 (현재)</a:t>
            </a:r>
          </a:p>
          <a:p>
            <a:pPr algn="ctr"/>
            <a:r>
              <a:rPr sz="1300" b="0" i="0">
                <a:solidFill>
                  <a:srgbClr val="1F2937"/>
                </a:solidFill>
                <a:latin typeface="Malgun Gothic"/>
                <a:ea typeface="Malgun Gothic"/>
              </a:rPr>
              <a:t>다중 사용자 · 성능</a:t>
            </a:r>
          </a:p>
          <a:p>
            <a:pPr algn="ctr"/>
          </a:p>
          <a:p>
            <a:pPr algn="ctr"/>
            <a:r>
              <a:rPr sz="1300" b="0" i="0">
                <a:solidFill>
                  <a:srgbClr val="1F2937"/>
                </a:solidFill>
                <a:latin typeface="Malgun Gothic"/>
                <a:ea typeface="Malgun Gothic"/>
              </a:rPr>
              <a:t>부하 실측 → 문제 발견 → 해결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412480" y="2395728"/>
            <a:ext cx="548640" cy="0"/>
          </a:xfrm>
          <a:prstGeom prst="line">
            <a:avLst/>
          </a:prstGeom>
          <a:ln w="27940">
            <a:solidFill>
              <a:srgbClr val="6B7280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9006840" y="1691640"/>
            <a:ext cx="2697480" cy="1417320"/>
          </a:xfrm>
          <a:prstGeom prst="roundRect">
            <a:avLst>
              <a:gd name="adj" fmla="val 8000"/>
            </a:avLst>
          </a:prstGeom>
          <a:solidFill>
            <a:srgbClr val="E8EEF6"/>
          </a:solidFill>
          <a:ln w="1270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300" b="1" i="0">
                <a:solidFill>
                  <a:srgbClr val="1F2937"/>
                </a:solidFill>
                <a:latin typeface="Malgun Gothic"/>
                <a:ea typeface="Malgun Gothic"/>
              </a:rPr>
              <a:t>목표</a:t>
            </a:r>
          </a:p>
          <a:p>
            <a:pPr algn="ctr"/>
            <a:r>
              <a:rPr sz="1300" b="0" i="0">
                <a:solidFill>
                  <a:srgbClr val="1F2937"/>
                </a:solidFill>
                <a:latin typeface="Malgun Gothic"/>
                <a:ea typeface="Malgun Gothic"/>
              </a:rPr>
              <a:t>차별화된</a:t>
            </a:r>
          </a:p>
          <a:p>
            <a:pPr algn="ctr"/>
            <a:r>
              <a:rPr sz="1300" b="0" i="0">
                <a:solidFill>
                  <a:srgbClr val="1F2937"/>
                </a:solidFill>
                <a:latin typeface="Malgun Gothic"/>
                <a:ea typeface="Malgun Gothic"/>
              </a:rPr>
              <a:t>LTM 시스템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520440"/>
            <a:ext cx="111556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400" b="1" i="0">
                <a:solidFill>
                  <a:srgbClr val="1E3A5F"/>
                </a:solidFill>
                <a:latin typeface="Malgun Gothic"/>
                <a:ea typeface="Malgun Gothic"/>
              </a:rPr>
              <a:t>이 발표에서 답하는 질문 3가지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02920" y="3977639"/>
          <a:ext cx="11201400" cy="190195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02920"/>
                <a:gridCol w="4846320"/>
                <a:gridCol w="5852160"/>
              </a:tblGrid>
              <a:tr h="475488">
                <a:tc>
                  <a:txBody>
                    <a:bodyPr wrap="square"/>
                    <a:lstStyle/>
                    <a:p/>
                  </a:txBody>
                  <a:tcPr marL="76200" marR="76200" marT="25400" marB="25400" anchor="ctr">
                    <a:solidFill>
                      <a:srgbClr val="1E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</a:rPr>
                        <a:t>질문</a:t>
                      </a:r>
                    </a:p>
                  </a:txBody>
                  <a:tcPr marL="76200" marR="76200" marT="25400" marB="25400" anchor="ctr">
                    <a:solidFill>
                      <a:srgbClr val="1E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</a:rPr>
                        <a:t>답 (미리보기)</a:t>
                      </a:r>
                    </a:p>
                  </a:txBody>
                  <a:tcPr marL="76200" marR="76200" marT="25400" marB="25400" anchor="ctr">
                    <a:solidFill>
                      <a:srgbClr val="1E3A5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</a:rPr>
                        <a:t>Q1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</a:rPr>
                        <a:t>MemMachine은 사용자·프로젝트를 무엇으로 구분하나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</a:rPr>
                        <a:t>격리 벽은 org/project 하나. 사용자는 벽 안의 '속성'일 뿐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</a:rPr>
                        <a:t>Q2</a:t>
                      </a:r>
                    </a:p>
                  </a:txBody>
                  <a:tcPr marL="76200" marR="76200" marT="25400" marB="25400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</a:rPr>
                        <a:t>그 구분이 Qdrant·Milvus에서 어떤 물리 구조가 되나</a:t>
                      </a:r>
                    </a:p>
                  </a:txBody>
                  <a:tcPr marL="76200" marR="76200" marT="25400" marB="25400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</a:rPr>
                        <a:t>Qdrant: 값-그룹 링크 / Milvus: 64버킷 + 비트셋 — 완전히 다름</a:t>
                      </a:r>
                    </a:p>
                  </a:txBody>
                  <a:tcPr marL="76200" marR="76200" marT="25400" marB="25400" anchor="ctr">
                    <a:solidFill>
                      <a:srgbClr val="F3F4F6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</a:rPr>
                        <a:t>Q3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</a:rPr>
                        <a:t>확장할 때 어디가 먼저 무너지나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</a:rPr>
                        <a:t>벡터DB가 아니라 Postgres(테이블 생성)와 앱 캐시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502920" y="6473952"/>
            <a:ext cx="1124712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900" b="0" i="0">
                <a:solidFill>
                  <a:srgbClr val="AFB6C2"/>
                </a:solidFill>
                <a:latin typeface="Malgun Gothic"/>
                <a:ea typeface="Malgun Gothic"/>
              </a:rPr>
              <a:t>MemMachine × VectorDB 구조 분석  ·  기준 upstream/main 2d28c1c  ·  2026-08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241280" cy="6400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Malgun Gothic"/>
                <a:ea typeface="Malgun Gothic"/>
              </a:rPr>
              <a:t>전체 그림 — 사용자는 구조에 없다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85855" y="201168"/>
            <a:ext cx="64008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200" b="0" i="0">
                <a:solidFill>
                  <a:srgbClr val="9FB3CC"/>
                </a:solidFill>
                <a:latin typeface="Malgun Gothic"/>
                <a:ea typeface="Malgun Gothic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32688"/>
            <a:ext cx="111556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Malgun Gothic"/>
                <a:ea typeface="Malgun Gothic"/>
              </a:rPr>
              <a:t>격리 벽은 프로젝트까지. 사용자는 벽 안의 딱지(metadata)로만 존재한다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2377440" cy="566928"/>
          </a:xfrm>
          <a:prstGeom prst="roundRect">
            <a:avLst>
              <a:gd name="adj" fmla="val 8000"/>
            </a:avLst>
          </a:prstGeom>
          <a:solidFill>
            <a:srgbClr val="E8EEF6"/>
          </a:solidFill>
          <a:ln w="1778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250" b="0" i="0">
                <a:solidFill>
                  <a:srgbClr val="1F2937"/>
                </a:solidFill>
                <a:latin typeface="Malgun Gothic"/>
                <a:ea typeface="Malgun Gothic"/>
              </a:rPr>
              <a:t>프로젝트 org/prjA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0" y="1417320"/>
            <a:ext cx="2377440" cy="566928"/>
          </a:xfrm>
          <a:prstGeom prst="roundRect">
            <a:avLst>
              <a:gd name="adj" fmla="val 8000"/>
            </a:avLst>
          </a:prstGeom>
          <a:solidFill>
            <a:srgbClr val="E8EEF6"/>
          </a:solidFill>
          <a:ln w="1778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250" b="0" i="0">
                <a:solidFill>
                  <a:srgbClr val="1F2937"/>
                </a:solidFill>
                <a:latin typeface="Malgun Gothic"/>
                <a:ea typeface="Malgun Gothic"/>
              </a:rPr>
              <a:t>프로젝트 org/prjB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0" y="1417320"/>
            <a:ext cx="1600200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200" b="0" i="0">
                <a:solidFill>
                  <a:srgbClr val="1F2937"/>
                </a:solidFill>
                <a:latin typeface="Malgun Gothic"/>
                <a:ea typeface="Malgun Gothic"/>
              </a:rPr>
              <a:t>사용자 u1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0" y="1417320"/>
            <a:ext cx="1600200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200" b="0" i="0">
                <a:solidFill>
                  <a:srgbClr val="1F2937"/>
                </a:solidFill>
                <a:latin typeface="Malgun Gothic"/>
                <a:ea typeface="Malgun Gothic"/>
              </a:rPr>
              <a:t>사용자 u2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55480" y="1444752"/>
            <a:ext cx="2377440" cy="56692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050" b="1" i="0">
                <a:solidFill>
                  <a:srgbClr val="B42318"/>
                </a:solidFill>
                <a:latin typeface="Malgun Gothic"/>
                <a:ea typeface="Malgun Gothic"/>
              </a:rPr>
              <a:t>사용자 = 점선</a:t>
            </a:r>
          </a:p>
          <a:p>
            <a:pPr algn="l"/>
            <a:r>
              <a:rPr sz="1050" b="1" i="0">
                <a:solidFill>
                  <a:srgbClr val="B42318"/>
                </a:solidFill>
                <a:latin typeface="Malgun Gothic"/>
                <a:ea typeface="Malgun Gothic"/>
              </a:rPr>
              <a:t>(격리 벽 아님, 속성)</a:t>
            </a:r>
          </a:p>
        </p:txBody>
      </p:sp>
      <p:cxnSp>
        <p:nvCxnSpPr>
          <p:cNvPr id="11" name="Connector 10"/>
          <p:cNvCxnSpPr/>
          <p:nvPr/>
        </p:nvCxnSpPr>
        <p:spPr>
          <a:xfrm flipH="1">
            <a:off x="4389120" y="1984248"/>
            <a:ext cx="2423160" cy="411480"/>
          </a:xfrm>
          <a:prstGeom prst="line">
            <a:avLst/>
          </a:prstGeom>
          <a:ln w="15240">
            <a:solidFill>
              <a:srgbClr val="6B7280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2011680" y="1984248"/>
            <a:ext cx="6537960" cy="411480"/>
          </a:xfrm>
          <a:prstGeom prst="line">
            <a:avLst/>
          </a:prstGeom>
          <a:ln w="15240">
            <a:solidFill>
              <a:srgbClr val="6B7280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40080" y="2423160"/>
            <a:ext cx="5760720" cy="22860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 w="1778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2496312"/>
            <a:ext cx="539496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1" i="0">
                <a:solidFill>
                  <a:srgbClr val="1E3A5F"/>
                </a:solidFill>
                <a:latin typeface="Malgun Gothic"/>
                <a:ea typeface="Malgun Gothic"/>
              </a:rPr>
              <a:t>MemMachine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8680" y="2852928"/>
            <a:ext cx="5303520" cy="4754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100" b="0" i="0">
                <a:solidFill>
                  <a:srgbClr val="1F2937"/>
                </a:solidFill>
                <a:latin typeface="Malgun Gothic"/>
                <a:ea typeface="Malgun Gothic"/>
              </a:rPr>
              <a:t>v2 API — session_key = "org_id/project_id"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" y="3401568"/>
            <a:ext cx="5303520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050" b="0" i="0">
                <a:solidFill>
                  <a:srgbClr val="1F2937"/>
                </a:solidFill>
                <a:latin typeface="Malgun Gothic"/>
                <a:ea typeface="Malgun Gothic"/>
              </a:rPr>
              <a:t>MemMachine 파사드</a:t>
            </a:r>
          </a:p>
          <a:p>
            <a:pPr algn="ctr"/>
            <a:r>
              <a:rPr sz="1050" b="0" i="0">
                <a:solidFill>
                  <a:srgbClr val="1F2937"/>
                </a:solidFill>
                <a:latin typeface="Malgun Gothic"/>
                <a:ea typeface="Malgun Gothic"/>
              </a:rPr>
              <a:t>① 원문 저장(RDB)  →  ② 인덱싱(벡터DB)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8680" y="4041648"/>
            <a:ext cx="2578608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000" b="0" i="0">
                <a:solidFill>
                  <a:srgbClr val="1F2937"/>
                </a:solidFill>
                <a:latin typeface="Malgun Gothic"/>
                <a:ea typeface="Malgun Gothic"/>
              </a:rPr>
              <a:t>세션 인스턴스 관리</a:t>
            </a:r>
          </a:p>
          <a:p>
            <a:pPr algn="ctr"/>
            <a:r>
              <a:rPr sz="1000" b="0" i="0">
                <a:solidFill>
                  <a:srgbClr val="1F2937"/>
                </a:solidFill>
                <a:latin typeface="Malgun Gothic"/>
                <a:ea typeface="Malgun Gothic"/>
              </a:rPr>
              <a:t>LRU 100 + 세션 락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584448" y="4041648"/>
            <a:ext cx="2587752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000" b="0" i="0">
                <a:solidFill>
                  <a:srgbClr val="1F2937"/>
                </a:solidFill>
                <a:latin typeface="Malgun Gothic"/>
                <a:ea typeface="Malgun Gothic"/>
              </a:rPr>
              <a:t>LTM(event)</a:t>
            </a:r>
          </a:p>
          <a:p>
            <a:pPr algn="ctr"/>
            <a:r>
              <a:rPr sz="1000" b="0" i="0">
                <a:solidFill>
                  <a:srgbClr val="1F2937"/>
                </a:solidFill>
                <a:latin typeface="Malgun Gothic"/>
                <a:ea typeface="Malgun Gothic"/>
              </a:rPr>
              <a:t>필드 번역·검증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720840" y="2423160"/>
            <a:ext cx="484632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03720" y="2487168"/>
            <a:ext cx="457200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  <a:latin typeface="Malgun Gothic"/>
                <a:ea typeface="Malgun Gothic"/>
              </a:rPr>
              <a:t>관계형 DB — 두 저장소는 구조가 정반대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903720" y="2834640"/>
            <a:ext cx="2194560" cy="658368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850" b="0" i="0">
                <a:solidFill>
                  <a:srgbClr val="1F2937"/>
                </a:solidFill>
                <a:latin typeface="Malgun Gothic"/>
                <a:ea typeface="Malgun Gothic"/>
              </a:rPr>
              <a:t>episode_store — 원문</a:t>
            </a:r>
          </a:p>
          <a:p>
            <a:pPr algn="ctr"/>
            <a:r>
              <a:rPr sz="850" b="0" i="0">
                <a:solidFill>
                  <a:srgbClr val="1F2937"/>
                </a:solidFill>
                <a:latin typeface="Malgun Gothic"/>
                <a:ea typeface="Malgun Gothic"/>
              </a:rPr>
              <a:t>테이블 1개 (episodestore)</a:t>
            </a:r>
          </a:p>
          <a:p>
            <a:pPr algn="ctr"/>
            <a:r>
              <a:rPr sz="850" b="0" i="0">
                <a:solidFill>
                  <a:srgbClr val="1F2937"/>
                </a:solidFill>
                <a:latin typeface="Malgun Gothic"/>
                <a:ea typeface="Malgun Gothic"/>
              </a:rPr>
              <a:t>파티션 안 함 · 행만 증가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235440" y="2834640"/>
            <a:ext cx="2194560" cy="658368"/>
          </a:xfrm>
          <a:prstGeom prst="roundRect">
            <a:avLst>
              <a:gd name="adj" fmla="val 8000"/>
            </a:avLst>
          </a:prstGeom>
          <a:solidFill>
            <a:srgbClr val="FBE9E7"/>
          </a:solidFill>
          <a:ln w="12700">
            <a:solidFill>
              <a:srgbClr val="B423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850" b="0" i="0">
                <a:solidFill>
                  <a:srgbClr val="1F2937"/>
                </a:solidFill>
                <a:latin typeface="Malgun Gothic"/>
                <a:ea typeface="Malgun Gothic"/>
              </a:rPr>
              <a:t>segment_store — 파생(문맥확장)</a:t>
            </a:r>
          </a:p>
          <a:p>
            <a:pPr algn="ctr"/>
            <a:r>
              <a:rPr sz="850" b="0" i="0">
                <a:solidFill>
                  <a:srgbClr val="1F2937"/>
                </a:solidFill>
                <a:latin typeface="Malgun Gothic"/>
                <a:ea typeface="Malgun Gothic"/>
              </a:rPr>
              <a:t>_sg · _dv_ln 만 LIST 파티션</a:t>
            </a:r>
          </a:p>
          <a:p>
            <a:pPr algn="ctr"/>
            <a:r>
              <a:rPr sz="850" b="0" i="0">
                <a:solidFill>
                  <a:srgbClr val="1F2937"/>
                </a:solidFill>
                <a:latin typeface="Malgun Gothic"/>
                <a:ea typeface="Malgun Gothic"/>
              </a:rPr>
              <a:t>⚠ 파티션당 자식 테이블 2개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4892040"/>
            <a:ext cx="5349240" cy="1481328"/>
          </a:xfrm>
          <a:prstGeom prst="roundRect">
            <a:avLst>
              <a:gd name="adj" fmla="val 8000"/>
            </a:avLst>
          </a:prstGeom>
          <a:solidFill>
            <a:srgbClr val="E6F2F0"/>
          </a:solidFill>
          <a:ln w="1778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4956048"/>
            <a:ext cx="502920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1" i="0">
                <a:solidFill>
                  <a:srgbClr val="0F766E"/>
                </a:solidFill>
                <a:latin typeface="Malgun Gothic"/>
                <a:ea typeface="Malgun Gothic"/>
              </a:rPr>
              <a:t>Qdrant — 컬렉션 1개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5285232"/>
            <a:ext cx="5074920" cy="10058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1F2937"/>
                </a:solidFill>
                <a:latin typeface="Malgun Gothic"/>
                <a:ea typeface="Malgun Gothic"/>
              </a:rPr>
              <a:t>파티션 = payload 값 (sys-partition_key)</a:t>
            </a:r>
          </a:p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1F2937"/>
                </a:solidFill>
                <a:latin typeface="Malgun Gothic"/>
                <a:ea typeface="Malgun Gothic"/>
              </a:rPr>
              <a:t>값-그룹 HNSW 링크 (m=0, payload_m=16)</a:t>
            </a:r>
          </a:p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1F2937"/>
                </a:solidFill>
                <a:latin typeface="Malgun Gothic"/>
                <a:ea typeface="Malgun Gothic"/>
              </a:rPr>
              <a:t>+ is_tenant 디스크 인접 배치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72200" y="4892040"/>
            <a:ext cx="5394960" cy="1481328"/>
          </a:xfrm>
          <a:prstGeom prst="roundRect">
            <a:avLst>
              <a:gd name="adj" fmla="val 8000"/>
            </a:avLst>
          </a:prstGeom>
          <a:solidFill>
            <a:srgbClr val="FBEEDD"/>
          </a:solidFill>
          <a:ln w="17780">
            <a:solidFill>
              <a:srgbClr val="B45F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55080" y="4956048"/>
            <a:ext cx="502920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1" i="0">
                <a:solidFill>
                  <a:srgbClr val="B45F06"/>
                </a:solidFill>
                <a:latin typeface="Malgun Gothic"/>
                <a:ea typeface="Malgun Gothic"/>
              </a:rPr>
              <a:t>Milvus — 컬렉션 1개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5080" y="5285232"/>
            <a:ext cx="5120640" cy="10058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1F2937"/>
                </a:solidFill>
                <a:latin typeface="Malgun Gothic"/>
                <a:ea typeface="Malgun Gothic"/>
              </a:rPr>
              <a:t>파티션 키 → hash % 64 물리 버킷</a:t>
            </a:r>
          </a:p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1F2937"/>
                </a:solidFill>
                <a:latin typeface="Malgun Gothic"/>
                <a:ea typeface="Malgun Gothic"/>
              </a:rPr>
              <a:t>AUTOINDEX 그래프 (세그먼트당 1개)</a:t>
            </a:r>
          </a:p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1F2937"/>
                </a:solidFill>
                <a:latin typeface="Malgun Gothic"/>
                <a:ea typeface="Malgun Gothic"/>
              </a:rPr>
              <a:t>필터 = 비트셋 · 부가 인덱스 없음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2011680" y="1984248"/>
            <a:ext cx="0" cy="411480"/>
          </a:xfrm>
          <a:prstGeom prst="line">
            <a:avLst/>
          </a:prstGeom>
          <a:ln w="25400">
            <a:solidFill>
              <a:srgbClr val="1E3A5F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H="1">
            <a:off x="4297680" y="1984248"/>
            <a:ext cx="91440" cy="411480"/>
          </a:xfrm>
          <a:prstGeom prst="line">
            <a:avLst/>
          </a:prstGeom>
          <a:ln w="25400">
            <a:solidFill>
              <a:srgbClr val="1E3A5F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6428232" y="3200400"/>
            <a:ext cx="457200" cy="0"/>
          </a:xfrm>
          <a:prstGeom prst="line">
            <a:avLst/>
          </a:prstGeom>
          <a:ln w="22225">
            <a:solidFill>
              <a:srgbClr val="6B7280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2743200" y="4718304"/>
            <a:ext cx="0" cy="155448"/>
          </a:xfrm>
          <a:prstGeom prst="line">
            <a:avLst/>
          </a:prstGeom>
          <a:ln w="25400">
            <a:solidFill>
              <a:srgbClr val="0F766E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4846320" y="4718304"/>
            <a:ext cx="1307592" cy="539496"/>
          </a:xfrm>
          <a:prstGeom prst="line">
            <a:avLst/>
          </a:prstGeom>
          <a:ln w="25400">
            <a:solidFill>
              <a:srgbClr val="B45F06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3017520" y="4690872"/>
            <a:ext cx="2926080" cy="21945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850" b="0" i="0">
                <a:solidFill>
                  <a:srgbClr val="6B7280"/>
                </a:solidFill>
                <a:latin typeface="Malgun Gothic"/>
                <a:ea typeface="Malgun Gothic"/>
              </a:rPr>
              <a:t>② 파생 — 백엔드 택1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6473952"/>
            <a:ext cx="1124712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900" b="0" i="0">
                <a:solidFill>
                  <a:srgbClr val="AFB6C2"/>
                </a:solidFill>
                <a:latin typeface="Malgun Gothic"/>
                <a:ea typeface="Malgun Gothic"/>
              </a:rPr>
              <a:t>MemMachine × VectorDB 구조 분석  ·  기준 upstream/main 2d28c1c  ·  2026-08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241280" cy="6400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Malgun Gothic"/>
                <a:ea typeface="Malgun Gothic"/>
              </a:rPr>
              <a:t>분업 — 원문은 RDB에, 벡터DB에는 참조(uid)만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85855" y="201168"/>
            <a:ext cx="64008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200" b="0" i="0">
                <a:solidFill>
                  <a:srgbClr val="9FB3CC"/>
                </a:solidFill>
                <a:latin typeface="Malgun Gothic"/>
                <a:ea typeface="Malgun Gothic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05840"/>
            <a:ext cx="111556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400" b="1" i="0">
                <a:solidFill>
                  <a:srgbClr val="1F2937"/>
                </a:solidFill>
                <a:latin typeface="Malgun Gothic"/>
                <a:ea typeface="Malgun Gothic"/>
              </a:rPr>
              <a:t>저장 순서가 구조적 필수: uid는 RDB가 INSERT 시점에 발급하는 자동증가 정수 PK — 원문을 쓰기 전에는 존재하지 않는다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691640"/>
            <a:ext cx="2606040" cy="9144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 w="1270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050" b="0" i="0">
                <a:solidFill>
                  <a:srgbClr val="1F2937"/>
                </a:solidFill>
                <a:latin typeface="Malgun Gothic"/>
                <a:ea typeface="Malgun Gothic"/>
              </a:rPr>
              <a:t>① 원문 저장</a:t>
            </a:r>
          </a:p>
          <a:p>
            <a:pPr algn="ctr"/>
            <a:r>
              <a:rPr sz="1050" b="0" i="0">
                <a:solidFill>
                  <a:srgbClr val="1F2937"/>
                </a:solidFill>
                <a:latin typeface="Malgun Gothic"/>
                <a:ea typeface="Malgun Gothic"/>
              </a:rPr>
              <a:t>episode_store.add_episodes()</a:t>
            </a:r>
          </a:p>
          <a:p>
            <a:pPr algn="ctr"/>
            <a:r>
              <a:rPr sz="1050" b="0" i="0">
                <a:solidFill>
                  <a:srgbClr val="1F2937"/>
                </a:solidFill>
                <a:latin typeface="Malgun Gothic"/>
                <a:ea typeface="Malgun Gothic"/>
              </a:rPr>
              <a:t>main/memmachine.py:700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154680" y="2148840"/>
            <a:ext cx="502920" cy="0"/>
          </a:xfrm>
          <a:prstGeom prst="line">
            <a:avLst/>
          </a:prstGeom>
          <a:ln w="25400">
            <a:solidFill>
              <a:srgbClr val="6B7280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3703320" y="1691640"/>
            <a:ext cx="2194560" cy="914400"/>
          </a:xfrm>
          <a:prstGeom prst="roundRect">
            <a:avLst>
              <a:gd name="adj" fmla="val 8000"/>
            </a:avLst>
          </a:prstGeom>
          <a:solidFill>
            <a:srgbClr val="E8EEF6"/>
          </a:solidFill>
          <a:ln w="1270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950" b="0" i="0">
                <a:solidFill>
                  <a:srgbClr val="1F2937"/>
                </a:solidFill>
                <a:latin typeface="Malgun Gothic"/>
                <a:ea typeface="Malgun Gothic"/>
              </a:rPr>
              <a:t>② uid 발급</a:t>
            </a:r>
          </a:p>
          <a:p>
            <a:pPr algn="ctr"/>
            <a:r>
              <a:rPr sz="950" b="0" i="0">
                <a:solidFill>
                  <a:srgbClr val="1F2937"/>
                </a:solidFill>
                <a:latin typeface="Malgun Gothic"/>
                <a:ea typeface="Malgun Gothic"/>
              </a:rPr>
              <a:t>INSERT … RETURNING</a:t>
            </a:r>
          </a:p>
          <a:p>
            <a:pPr algn="ctr"/>
            <a:r>
              <a:rPr sz="950" b="0" i="0">
                <a:solidFill>
                  <a:srgbClr val="1F2937"/>
                </a:solidFill>
                <a:latin typeface="Malgun Gothic"/>
                <a:ea typeface="Malgun Gothic"/>
              </a:rPr>
              <a:t>episodestore.id (정수)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943600" y="2148840"/>
            <a:ext cx="502920" cy="0"/>
          </a:xfrm>
          <a:prstGeom prst="line">
            <a:avLst/>
          </a:prstGeom>
          <a:ln w="25400">
            <a:solidFill>
              <a:srgbClr val="6B7280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6492240" y="1691640"/>
            <a:ext cx="2743200" cy="9144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 w="1270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950" b="0" i="0">
                <a:solidFill>
                  <a:srgbClr val="1F2937"/>
                </a:solidFill>
                <a:latin typeface="Malgun Gothic"/>
                <a:ea typeface="Malgun Gothic"/>
              </a:rPr>
              <a:t>③ 세그먼트 → derivative</a:t>
            </a:r>
          </a:p>
          <a:p>
            <a:pPr algn="ctr"/>
            <a:r>
              <a:rPr sz="950" b="0" i="0">
                <a:solidFill>
                  <a:srgbClr val="1F2937"/>
                </a:solidFill>
                <a:latin typeface="Malgun Gothic"/>
                <a:ea typeface="Malgun Gothic"/>
              </a:rPr>
              <a:t>포인트 ID = derivative.uuid4</a:t>
            </a:r>
          </a:p>
          <a:p>
            <a:pPr algn="ctr"/>
            <a:r>
              <a:rPr sz="950" b="0" i="0">
                <a:solidFill>
                  <a:srgbClr val="1F2937"/>
                </a:solidFill>
                <a:latin typeface="Malgun Gothic"/>
                <a:ea typeface="Malgun Gothic"/>
              </a:rPr>
              <a:t>에피소드 1 → 포인트 M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9281160" y="2148840"/>
            <a:ext cx="502920" cy="0"/>
          </a:xfrm>
          <a:prstGeom prst="line">
            <a:avLst/>
          </a:prstGeom>
          <a:ln w="25400">
            <a:solidFill>
              <a:srgbClr val="6B7280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9829800" y="1691640"/>
            <a:ext cx="1828800" cy="914400"/>
          </a:xfrm>
          <a:prstGeom prst="roundRect">
            <a:avLst>
              <a:gd name="adj" fmla="val 8000"/>
            </a:avLst>
          </a:prstGeom>
          <a:solidFill>
            <a:srgbClr val="E6F2F0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100" b="0" i="0">
                <a:solidFill>
                  <a:srgbClr val="1F2937"/>
                </a:solidFill>
                <a:latin typeface="Malgun Gothic"/>
                <a:ea typeface="Malgun Gothic"/>
              </a:rPr>
              <a:t>④ 벡터DB</a:t>
            </a:r>
          </a:p>
          <a:p>
            <a:pPr algn="ctr"/>
            <a:r>
              <a:rPr sz="1100" b="0" i="0">
                <a:solidFill>
                  <a:srgbClr val="1F2937"/>
                </a:solidFill>
                <a:latin typeface="Malgun Gothic"/>
                <a:ea typeface="Malgun Gothic"/>
              </a:rPr>
              <a:t>upsert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2880360"/>
            <a:ext cx="111556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50" b="1" i="0">
                <a:solidFill>
                  <a:srgbClr val="1E3A5F"/>
                </a:solidFill>
                <a:latin typeface="Malgun Gothic"/>
                <a:ea typeface="Malgun Gothic"/>
              </a:rPr>
              <a:t>검색은 역방향으로 같은 다리를 건넌다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310128"/>
            <a:ext cx="3108960" cy="822960"/>
          </a:xfrm>
          <a:prstGeom prst="roundRect">
            <a:avLst>
              <a:gd name="adj" fmla="val 8000"/>
            </a:avLst>
          </a:prstGeom>
          <a:solidFill>
            <a:srgbClr val="E6F2F0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900" b="0" i="0">
                <a:solidFill>
                  <a:srgbClr val="1F2937"/>
                </a:solidFill>
                <a:latin typeface="Malgun Gothic"/>
                <a:ea typeface="Malgun Gothic"/>
              </a:rPr>
              <a:t>벡터DB 검색 (원문 없음)</a:t>
            </a:r>
          </a:p>
          <a:p>
            <a:pPr algn="ctr"/>
            <a:r>
              <a:rPr sz="900" b="0" i="0">
                <a:solidFill>
                  <a:srgbClr val="1F2937"/>
                </a:solidFill>
                <a:latin typeface="Malgun Gothic"/>
                <a:ea typeface="Malgun Gothic"/>
              </a:rPr>
              <a:t>→ payload _episode_uid + 점수</a:t>
            </a:r>
          </a:p>
          <a:p>
            <a:pPr algn="ctr"/>
            <a:r>
              <a:rPr sz="900" b="0" i="0">
                <a:solidFill>
                  <a:srgbClr val="1F2937"/>
                </a:solidFill>
                <a:latin typeface="Malgun Gothic"/>
                <a:ea typeface="Malgun Gothic"/>
              </a:rPr>
              <a:t>※ 포인트 ID는 랜덤 uuid4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657600" y="3721608"/>
            <a:ext cx="502920" cy="0"/>
          </a:xfrm>
          <a:prstGeom prst="line">
            <a:avLst/>
          </a:prstGeom>
          <a:ln w="25400">
            <a:solidFill>
              <a:srgbClr val="6B7280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4206240" y="3310128"/>
            <a:ext cx="3566160" cy="82296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 w="1270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900" b="0" i="0">
                <a:solidFill>
                  <a:srgbClr val="1F2937"/>
                </a:solidFill>
                <a:latin typeface="Malgun Gothic"/>
                <a:ea typeface="Malgun Gothic"/>
              </a:rPr>
              <a:t>episode_store.get_episodes(uids)</a:t>
            </a:r>
          </a:p>
          <a:p>
            <a:pPr algn="ctr"/>
            <a:r>
              <a:rPr sz="900" b="0" i="0">
                <a:solidFill>
                  <a:srgbClr val="1F2937"/>
                </a:solidFill>
                <a:latin typeface="Malgun Gothic"/>
                <a:ea typeface="Malgun Gothic"/>
              </a:rPr>
              <a:t>int 캐스팅 → WHERE id IN (…)</a:t>
            </a:r>
          </a:p>
          <a:p>
            <a:pPr algn="ctr"/>
            <a:r>
              <a:rPr sz="900" b="0" i="0">
                <a:solidFill>
                  <a:srgbClr val="1F2937"/>
                </a:solidFill>
                <a:latin typeface="Malgun Gothic"/>
                <a:ea typeface="Malgun Gothic"/>
              </a:rPr>
              <a:t>long_term_memory.py:357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818120" y="3721608"/>
            <a:ext cx="502920" cy="0"/>
          </a:xfrm>
          <a:prstGeom prst="line">
            <a:avLst/>
          </a:prstGeom>
          <a:ln w="25400">
            <a:solidFill>
              <a:srgbClr val="6B7280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8366760" y="3310128"/>
            <a:ext cx="3291840" cy="822960"/>
          </a:xfrm>
          <a:prstGeom prst="roundRect">
            <a:avLst>
              <a:gd name="adj" fmla="val 8000"/>
            </a:avLst>
          </a:prstGeom>
          <a:solidFill>
            <a:srgbClr val="E8EEF6"/>
          </a:solidFill>
          <a:ln w="1270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150" b="0" i="0">
                <a:solidFill>
                  <a:srgbClr val="1F2937"/>
                </a:solidFill>
                <a:latin typeface="Malgun Gothic"/>
                <a:ea typeface="Malgun Gothic"/>
              </a:rPr>
              <a:t>원문 대화 반환</a:t>
            </a:r>
          </a:p>
          <a:p>
            <a:pPr algn="ctr"/>
            <a:r>
              <a:rPr sz="1150" b="0" i="0">
                <a:solidFill>
                  <a:srgbClr val="1F2937"/>
                </a:solidFill>
                <a:latin typeface="Malgun Gothic"/>
                <a:ea typeface="Malgun Gothic"/>
              </a:rPr>
              <a:t>(파티션 무관 PK 조회)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4526280"/>
            <a:ext cx="11201400" cy="1417320"/>
          </a:xfrm>
          <a:prstGeom prst="roundRect">
            <a:avLst>
              <a:gd name="adj" fmla="val 8000"/>
            </a:avLst>
          </a:prstGeom>
          <a:solidFill>
            <a:srgbClr val="FBE9E7"/>
          </a:solidFill>
          <a:ln w="15240">
            <a:solidFill>
              <a:srgbClr val="B423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4645152"/>
            <a:ext cx="107899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1" i="0">
                <a:solidFill>
                  <a:srgbClr val="B42318"/>
                </a:solidFill>
                <a:latin typeface="Malgun Gothic"/>
                <a:ea typeface="Malgun Gothic"/>
              </a:rPr>
              <a:t>⚠ 이 순서가 깨지면 — 실제로 겪은 사례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029200"/>
            <a:ext cx="10789920" cy="8686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1F2937"/>
                </a:solidFill>
                <a:latin typeface="Malgun Gothic"/>
                <a:ea typeface="Malgun Gothic"/>
              </a:rPr>
              <a:t>평가 하네스가 ①을 건너뛰고 인덱싱만 수행 → 유효한 uid가 없으니 벡터DB에는 들어가도 복원 단계의 int(uid) 캐스팅에서 전부 실패</a:t>
            </a:r>
          </a:p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1F2937"/>
                </a:solidFill>
                <a:latin typeface="Malgun Gothic"/>
                <a:ea typeface="Malgun Gothic"/>
              </a:rPr>
              <a:t>(ResourceNotFoundError: Invalid episode ID — episode_sqlalchemy_store.py:248-253). declarative는 원문이 그래프에 함께 저장돼 증상이 안 보임 → event에서만 드러나는 함정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73952"/>
            <a:ext cx="1124712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900" b="0" i="0">
                <a:solidFill>
                  <a:srgbClr val="AFB6C2"/>
                </a:solidFill>
                <a:latin typeface="Malgun Gothic"/>
                <a:ea typeface="Malgun Gothic"/>
              </a:rPr>
              <a:t>MemMachine × VectorDB 구조 분석  ·  기준 upstream/main 2d28c1c  ·  2026-08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241280" cy="6400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Malgun Gothic"/>
                <a:ea typeface="Malgun Gothic"/>
              </a:rPr>
              <a:t>연결 — 서버 기동이 아니라 '첫 저장'이 만든다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85855" y="201168"/>
            <a:ext cx="64008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200" b="0" i="0">
                <a:solidFill>
                  <a:srgbClr val="9FB3CC"/>
                </a:solidFill>
                <a:latin typeface="Malgun Gothic"/>
                <a:ea typeface="Malgun Gothic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05840"/>
            <a:ext cx="111556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Malgun Gothic"/>
                <a:ea typeface="Malgun Gothic"/>
              </a:rPr>
              <a:t>클라이언트·컬렉션·테이블 전부 lazy 생성. 두 번째 프로젝트부터는 장부 1행 + 테이블 2개뿐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600200"/>
            <a:ext cx="210312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050" b="0" i="0">
                <a:solidFill>
                  <a:srgbClr val="1F2937"/>
                </a:solidFill>
                <a:latin typeface="Malgun Gothic"/>
                <a:ea typeface="Malgun Gothic"/>
              </a:rPr>
              <a:t>서버 기동</a:t>
            </a:r>
          </a:p>
          <a:p>
            <a:pPr algn="ctr"/>
            <a:r>
              <a:rPr sz="1050" b="0" i="0">
                <a:solidFill>
                  <a:srgbClr val="1F2937"/>
                </a:solidFill>
                <a:latin typeface="Malgun Gothic"/>
                <a:ea typeface="Malgun Gothic"/>
              </a:rPr>
              <a:t>DB에 아무것도 안 만듦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651760" y="1947672"/>
            <a:ext cx="457200" cy="0"/>
          </a:xfrm>
          <a:prstGeom prst="line">
            <a:avLst/>
          </a:prstGeom>
          <a:ln w="25400">
            <a:solidFill>
              <a:srgbClr val="6B7280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3154680" y="1600200"/>
            <a:ext cx="2651760" cy="685800"/>
          </a:xfrm>
          <a:prstGeom prst="roundRect">
            <a:avLst>
              <a:gd name="adj" fmla="val 8000"/>
            </a:avLst>
          </a:prstGeom>
          <a:solidFill>
            <a:srgbClr val="E8EEF6"/>
          </a:solidFill>
          <a:ln w="1270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050" b="0" i="0">
                <a:solidFill>
                  <a:srgbClr val="1F2937"/>
                </a:solidFill>
                <a:latin typeface="Malgun Gothic"/>
                <a:ea typeface="Malgun Gothic"/>
              </a:rPr>
              <a:t>첫 org/project 적재 요청</a:t>
            </a:r>
          </a:p>
          <a:p>
            <a:pPr algn="ctr"/>
            <a:r>
              <a:rPr sz="1050" b="0" i="0">
                <a:solidFill>
                  <a:srgbClr val="1F2937"/>
                </a:solidFill>
                <a:latin typeface="Malgun Gothic"/>
                <a:ea typeface="Malgun Gothic"/>
              </a:rPr>
              <a:t>session_key = "sk/prjA"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852160" y="1947672"/>
            <a:ext cx="457200" cy="0"/>
          </a:xfrm>
          <a:prstGeom prst="line">
            <a:avLst/>
          </a:prstGeom>
          <a:ln w="25400">
            <a:solidFill>
              <a:srgbClr val="6B7280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6355080" y="1600200"/>
            <a:ext cx="2377440" cy="6858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 w="1270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050" b="0" i="0">
                <a:solidFill>
                  <a:srgbClr val="1F2937"/>
                </a:solidFill>
                <a:latin typeface="Malgun Gothic"/>
                <a:ea typeface="Malgun Gothic"/>
              </a:rPr>
              <a:t>클라이언트 생성</a:t>
            </a:r>
          </a:p>
          <a:p>
            <a:pPr algn="ctr"/>
            <a:r>
              <a:rPr sz="1050" b="0" i="0">
                <a:solidFill>
                  <a:srgbClr val="1F2937"/>
                </a:solidFill>
                <a:latin typeface="Malgun Gothic"/>
                <a:ea typeface="Malgun Gothic"/>
              </a:rPr>
              <a:t>이름당 1개 (락+캐시)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778240" y="1947672"/>
            <a:ext cx="457200" cy="0"/>
          </a:xfrm>
          <a:prstGeom prst="line">
            <a:avLst/>
          </a:prstGeom>
          <a:ln w="25400">
            <a:solidFill>
              <a:srgbClr val="6B7280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9281160" y="1600200"/>
            <a:ext cx="2377440" cy="6858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 w="1270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000" b="0" i="0">
                <a:solidFill>
                  <a:srgbClr val="1F2937"/>
                </a:solidFill>
                <a:latin typeface="Malgun Gothic"/>
                <a:ea typeface="Malgun Gothic"/>
              </a:rPr>
              <a:t>partition_key</a:t>
            </a:r>
          </a:p>
          <a:p>
            <a:pPr algn="ctr"/>
            <a:r>
              <a:rPr sz="1000" b="0" i="0">
                <a:solidFill>
                  <a:srgbClr val="1F2937"/>
                </a:solidFill>
                <a:latin typeface="Malgun Gothic"/>
                <a:ea typeface="Malgun Gothic"/>
              </a:rPr>
              <a:t>= sha256(session_key)[:32]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2606040"/>
            <a:ext cx="111556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50" b="1" i="0">
                <a:solidFill>
                  <a:srgbClr val="1E3A5F"/>
                </a:solidFill>
                <a:latin typeface="Malgun Gothic"/>
                <a:ea typeface="Malgun Gothic"/>
              </a:rPr>
              <a:t>이때 만들어지는 것 (처음 한 번 vs 프로젝트마다)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502920" y="3063240"/>
          <a:ext cx="11201398" cy="2743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915936"/>
                <a:gridCol w="1366024"/>
                <a:gridCol w="2003502"/>
                <a:gridCol w="3915936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</a:rPr>
                        <a:t>무엇이</a:t>
                      </a:r>
                    </a:p>
                  </a:txBody>
                  <a:tcPr marL="76200" marR="76200" marT="25400" marB="25400" anchor="ctr">
                    <a:solidFill>
                      <a:srgbClr val="1E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</a:rPr>
                        <a:t>어디에</a:t>
                      </a:r>
                    </a:p>
                  </a:txBody>
                  <a:tcPr marL="76200" marR="76200" marT="25400" marB="25400" anchor="ctr">
                    <a:solidFill>
                      <a:srgbClr val="1E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</a:rPr>
                        <a:t>언제</a:t>
                      </a:r>
                    </a:p>
                  </a:txBody>
                  <a:tcPr marL="76200" marR="76200" marT="25400" marB="25400" anchor="ctr">
                    <a:solidFill>
                      <a:srgbClr val="1E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</a:rPr>
                        <a:t>비용</a:t>
                      </a:r>
                    </a:p>
                  </a:txBody>
                  <a:tcPr marL="76200" marR="76200" marT="25400" marB="25400" anchor="ctr">
                    <a:solidFill>
                      <a:srgbClr val="1E3A5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</a:rPr>
                        <a:t>registry 컬렉션 (장부)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</a:rPr>
                        <a:t>벡터DB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</a:rPr>
                        <a:t>최초 1회</a:t>
                      </a:r>
                    </a:p>
                  </a:txBody>
                  <a:tcPr marL="76200" marR="76200" marT="25400" marB="25400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</a:rPr>
                        <a:t>무시 가능 (1차원 벡터, 링크 없음)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</a:rPr>
                        <a:t>네이티브 컬렉션 long_term_memory__&lt;h&gt;</a:t>
                      </a:r>
                    </a:p>
                  </a:txBody>
                  <a:tcPr marL="76200" marR="76200" marT="25400" marB="25400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</a:rPr>
                        <a:t>벡터DB</a:t>
                      </a:r>
                    </a:p>
                  </a:txBody>
                  <a:tcPr marL="76200" marR="76200" marT="25400" marB="25400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</a:rPr>
                        <a:t>스키마 조합당 1회</a:t>
                      </a:r>
                    </a:p>
                  </a:txBody>
                  <a:tcPr marL="76200" marR="76200" marT="25400" marB="25400" anchor="ctr">
                    <a:solidFill>
                      <a:srgbClr val="E6F2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</a:rPr>
                        <a:t>생성 시 payload 색인 12개 포함</a:t>
                      </a:r>
                    </a:p>
                  </a:txBody>
                  <a:tcPr marL="76200" marR="76200" marT="25400" marB="25400" anchor="ctr">
                    <a:solidFill>
                      <a:srgbClr val="F3F4F6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</a:rPr>
                        <a:t>장부에 파티션 등록 (upsert 1행)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</a:rPr>
                        <a:t>벡터DB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</a:rPr>
                        <a:t>프로젝트마다</a:t>
                      </a:r>
                    </a:p>
                  </a:txBody>
                  <a:tcPr marL="76200" marR="76200" marT="25400" marB="25400" anchor="ctr">
                    <a:solidFill>
                      <a:srgbClr val="E8EE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</a:rPr>
                        <a:t>DML — 가벼움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</a:rPr>
                        <a:t>shard key (분산 모드만, 기본 꺼짐)</a:t>
                      </a:r>
                    </a:p>
                  </a:txBody>
                  <a:tcPr marL="76200" marR="76200" marT="25400" marB="25400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</a:rPr>
                        <a:t>벡터DB</a:t>
                      </a:r>
                    </a:p>
                  </a:txBody>
                  <a:tcPr marL="76200" marR="76200" marT="25400" marB="25400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</a:rPr>
                        <a:t>프로젝트마다</a:t>
                      </a:r>
                    </a:p>
                  </a:txBody>
                  <a:tcPr marL="76200" marR="76200" marT="25400" marB="25400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</a:rPr>
                        <a:t>is_distributed=true일 때만</a:t>
                      </a:r>
                    </a:p>
                  </a:txBody>
                  <a:tcPr marL="76200" marR="76200" marT="25400" marB="25400" anchor="ctr">
                    <a:solidFill>
                      <a:srgbClr val="F3F4F6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</a:rPr>
                        <a:t>CREATE TABLE × 2 (자식 파티션)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</a:rPr>
                        <a:t>Postgres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B42318"/>
                          </a:solidFill>
                          <a:latin typeface="Malgun Gothic"/>
                          <a:ea typeface="Malgun Gothic"/>
                        </a:rPr>
                        <a:t>프로젝트마다</a:t>
                      </a:r>
                    </a:p>
                  </a:txBody>
                  <a:tcPr marL="76200" marR="76200" marT="25400" marB="25400" anchor="ctr">
                    <a:solidFill>
                      <a:srgbClr val="FBE9E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</a:rPr>
                        <a:t>⚠ DDL — 전역 잠금으로 직렬화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502920" y="5989320"/>
            <a:ext cx="1115568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50" b="0" i="0">
                <a:solidFill>
                  <a:srgbClr val="6B7280"/>
                </a:solidFill>
                <a:latin typeface="Malgun Gothic"/>
                <a:ea typeface="Malgun Gothic"/>
              </a:rPr>
              <a:t>&lt;h&gt; = sha256( 벡터차원 + 유사도방식 + 색인필드목록 )  →  이 3개가 같으면 프로젝트 100개도 컬렉션 1개  (qdrant_vector_store.py:620)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73952"/>
            <a:ext cx="1124712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900" b="0" i="0">
                <a:solidFill>
                  <a:srgbClr val="AFB6C2"/>
                </a:solidFill>
                <a:latin typeface="Malgun Gothic"/>
                <a:ea typeface="Malgun Gothic"/>
              </a:rPr>
              <a:t>MemMachine × VectorDB 구조 분석  ·  기준 upstream/main 2d28c1c  ·  2026-08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241280" cy="6400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Malgun Gothic"/>
                <a:ea typeface="Malgun Gothic"/>
              </a:rPr>
              <a:t>Qdrant — 컬렉션 1개 안에 '값-그룹 링크'가 겹겹이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85855" y="201168"/>
            <a:ext cx="64008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200" b="0" i="0">
                <a:solidFill>
                  <a:srgbClr val="9FB3CC"/>
                </a:solidFill>
                <a:latin typeface="Malgun Gothic"/>
                <a:ea typeface="Malgun Gothic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60120"/>
            <a:ext cx="11155680" cy="3840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50" b="0" i="0">
                <a:solidFill>
                  <a:srgbClr val="6B7280"/>
                </a:solidFill>
                <a:latin typeface="Malgun Gothic"/>
                <a:ea typeface="Malgun Gothic"/>
              </a:rPr>
              <a:t>m=0: 전체를 잇는 링크를 안 만든다  ·  payload_m=16: 같은 값끼리만 잇는다  (qdrant_vector_store.py:752-753)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463040"/>
            <a:ext cx="6949440" cy="3200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640080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50" b="1" i="0">
                <a:solidFill>
                  <a:srgbClr val="1E3A5F"/>
                </a:solidFill>
                <a:latin typeface="Malgun Gothic"/>
                <a:ea typeface="Malgun Gothic"/>
              </a:rPr>
              <a:t>하나의 컬렉션 = 노드 한 벌 + 링크 필름 여러 장</a:t>
            </a:r>
          </a:p>
        </p:txBody>
      </p:sp>
      <p:sp>
        <p:nvSpPr>
          <p:cNvPr id="8" name="Oval 7"/>
          <p:cNvSpPr/>
          <p:nvPr/>
        </p:nvSpPr>
        <p:spPr>
          <a:xfrm>
            <a:off x="1188720" y="2057400"/>
            <a:ext cx="384048" cy="384048"/>
          </a:xfrm>
          <a:prstGeom prst="ellipse">
            <a:avLst/>
          </a:prstGeom>
          <a:solidFill>
            <a:srgbClr val="1E3A5F"/>
          </a:solidFill>
          <a:ln w="31750">
            <a:solidFill>
              <a:srgbClr val="B423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487168"/>
            <a:ext cx="105156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850" b="0" i="0">
                <a:solidFill>
                  <a:srgbClr val="B42318"/>
                </a:solidFill>
                <a:latin typeface="Malgun Gothic"/>
                <a:ea typeface="Malgun Gothic"/>
              </a:rPr>
              <a:t>prjA·u1</a:t>
            </a:r>
          </a:p>
        </p:txBody>
      </p:sp>
      <p:sp>
        <p:nvSpPr>
          <p:cNvPr id="10" name="Oval 9"/>
          <p:cNvSpPr/>
          <p:nvPr/>
        </p:nvSpPr>
        <p:spPr>
          <a:xfrm>
            <a:off x="2194560" y="2057400"/>
            <a:ext cx="384048" cy="384048"/>
          </a:xfrm>
          <a:prstGeom prst="ellipse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874519" y="2487168"/>
            <a:ext cx="105156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850" b="0" i="0">
                <a:solidFill>
                  <a:srgbClr val="6B7280"/>
                </a:solidFill>
                <a:latin typeface="Malgun Gothic"/>
                <a:ea typeface="Malgun Gothic"/>
              </a:rPr>
              <a:t>prjA·u2</a:t>
            </a:r>
          </a:p>
        </p:txBody>
      </p:sp>
      <p:sp>
        <p:nvSpPr>
          <p:cNvPr id="12" name="Oval 11"/>
          <p:cNvSpPr/>
          <p:nvPr/>
        </p:nvSpPr>
        <p:spPr>
          <a:xfrm>
            <a:off x="3200400" y="2057400"/>
            <a:ext cx="384048" cy="384048"/>
          </a:xfrm>
          <a:prstGeom prst="ellipse">
            <a:avLst/>
          </a:prstGeom>
          <a:solidFill>
            <a:srgbClr val="1E3A5F"/>
          </a:solidFill>
          <a:ln w="31750">
            <a:solidFill>
              <a:srgbClr val="B423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80360" y="2487168"/>
            <a:ext cx="105156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850" b="0" i="0">
                <a:solidFill>
                  <a:srgbClr val="B42318"/>
                </a:solidFill>
                <a:latin typeface="Malgun Gothic"/>
                <a:ea typeface="Malgun Gothic"/>
              </a:rPr>
              <a:t>prjA·u1</a:t>
            </a:r>
          </a:p>
        </p:txBody>
      </p:sp>
      <p:sp>
        <p:nvSpPr>
          <p:cNvPr id="14" name="Oval 13"/>
          <p:cNvSpPr/>
          <p:nvPr/>
        </p:nvSpPr>
        <p:spPr>
          <a:xfrm>
            <a:off x="4206240" y="2057400"/>
            <a:ext cx="384048" cy="384048"/>
          </a:xfrm>
          <a:prstGeom prst="ellipse">
            <a:avLst/>
          </a:prstGeom>
          <a:solidFill>
            <a:srgbClr val="1E3A5F"/>
          </a:solidFill>
          <a:ln w="31750">
            <a:solidFill>
              <a:srgbClr val="B423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86200" y="2487168"/>
            <a:ext cx="105156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850" b="0" i="0">
                <a:solidFill>
                  <a:srgbClr val="B42318"/>
                </a:solidFill>
                <a:latin typeface="Malgun Gothic"/>
                <a:ea typeface="Malgun Gothic"/>
              </a:rPr>
              <a:t>prjB·u1</a:t>
            </a:r>
          </a:p>
        </p:txBody>
      </p:sp>
      <p:sp>
        <p:nvSpPr>
          <p:cNvPr id="16" name="Oval 15"/>
          <p:cNvSpPr/>
          <p:nvPr/>
        </p:nvSpPr>
        <p:spPr>
          <a:xfrm>
            <a:off x="5212080" y="2057400"/>
            <a:ext cx="384048" cy="384048"/>
          </a:xfrm>
          <a:prstGeom prst="ellipse">
            <a:avLst/>
          </a:prstGeom>
          <a:solidFill>
            <a:srgbClr val="1E3A5F"/>
          </a:solidFill>
          <a:ln w="31750">
            <a:solidFill>
              <a:srgbClr val="B423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92040" y="2487168"/>
            <a:ext cx="105156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850" b="0" i="0">
                <a:solidFill>
                  <a:srgbClr val="B42318"/>
                </a:solidFill>
                <a:latin typeface="Malgun Gothic"/>
                <a:ea typeface="Malgun Gothic"/>
              </a:rPr>
              <a:t>prjB·u1</a:t>
            </a:r>
          </a:p>
        </p:txBody>
      </p:sp>
      <p:sp>
        <p:nvSpPr>
          <p:cNvPr id="18" name="Oval 17"/>
          <p:cNvSpPr/>
          <p:nvPr/>
        </p:nvSpPr>
        <p:spPr>
          <a:xfrm>
            <a:off x="6217920" y="2057400"/>
            <a:ext cx="384048" cy="384048"/>
          </a:xfrm>
          <a:prstGeom prst="ellipse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97880" y="2487168"/>
            <a:ext cx="105156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850" b="0" i="0">
                <a:solidFill>
                  <a:srgbClr val="6B7280"/>
                </a:solidFill>
                <a:latin typeface="Malgun Gothic"/>
                <a:ea typeface="Malgun Gothic"/>
              </a:rPr>
              <a:t>prjB·u3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09160" y="1536192"/>
            <a:ext cx="265176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950" b="0" i="0">
                <a:solidFill>
                  <a:srgbClr val="B42318"/>
                </a:solidFill>
                <a:latin typeface="Malgun Gothic"/>
                <a:ea typeface="Malgun Gothic"/>
              </a:rPr>
              <a:t>빨간 테두리 = user_id 'u1'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2880360"/>
            <a:ext cx="310896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000" b="1" i="0">
                <a:solidFill>
                  <a:srgbClr val="0F766E"/>
                </a:solidFill>
                <a:latin typeface="Malgun Gothic"/>
                <a:ea typeface="Malgun Gothic"/>
              </a:rPr>
              <a:t>파티션 필름 — 같은 프로젝트끼리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1371600" y="3200400"/>
            <a:ext cx="2011680" cy="0"/>
          </a:xfrm>
          <a:prstGeom prst="line">
            <a:avLst/>
          </a:prstGeom>
          <a:ln w="27940">
            <a:solidFill>
              <a:srgbClr val="0F766E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4389120" y="3200400"/>
            <a:ext cx="2011680" cy="0"/>
          </a:xfrm>
          <a:prstGeom prst="line">
            <a:avLst/>
          </a:prstGeom>
          <a:ln w="27940">
            <a:solidFill>
              <a:srgbClr val="0F766E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1417320" y="3246120"/>
            <a:ext cx="22860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900" b="0" i="0">
                <a:solidFill>
                  <a:srgbClr val="0F766E"/>
                </a:solidFill>
                <a:latin typeface="Malgun Gothic"/>
                <a:ea typeface="Malgun Gothic"/>
              </a:rPr>
              <a:t>prjA 벽 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34840" y="3246120"/>
            <a:ext cx="22860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900" b="0" i="0">
                <a:solidFill>
                  <a:srgbClr val="0F766E"/>
                </a:solidFill>
                <a:latin typeface="Malgun Gothic"/>
                <a:ea typeface="Malgun Gothic"/>
              </a:rPr>
              <a:t>prjB 벽 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3611880"/>
            <a:ext cx="329184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000" b="1" i="0">
                <a:solidFill>
                  <a:srgbClr val="B42318"/>
                </a:solidFill>
                <a:latin typeface="Malgun Gothic"/>
                <a:ea typeface="Malgun Gothic"/>
              </a:rPr>
              <a:t>u1 필름 — u1 노드만, 파티션을 가로질러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1371600" y="3931920"/>
            <a:ext cx="2011680" cy="0"/>
          </a:xfrm>
          <a:prstGeom prst="line">
            <a:avLst/>
          </a:prstGeom>
          <a:ln w="27940">
            <a:solidFill>
              <a:srgbClr val="B42318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3383280" y="3931920"/>
            <a:ext cx="1005840" cy="0"/>
          </a:xfrm>
          <a:prstGeom prst="line">
            <a:avLst/>
          </a:prstGeom>
          <a:ln w="27940">
            <a:solidFill>
              <a:srgbClr val="B42318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4389120" y="3931920"/>
            <a:ext cx="1005840" cy="0"/>
          </a:xfrm>
          <a:prstGeom prst="line">
            <a:avLst/>
          </a:prstGeom>
          <a:ln w="27940">
            <a:solidFill>
              <a:srgbClr val="B42318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5486400" y="3858768"/>
            <a:ext cx="18288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850" b="0" i="0">
                <a:solidFill>
                  <a:srgbClr val="6B7280"/>
                </a:solidFill>
                <a:latin typeface="Malgun Gothic"/>
                <a:ea typeface="Malgun Gothic"/>
              </a:rPr>
              <a:t>⑥(u3)는 미연결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4224528"/>
            <a:ext cx="621792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900" b="0" i="0">
                <a:solidFill>
                  <a:srgbClr val="B42318"/>
                </a:solidFill>
                <a:latin typeface="Malgun Gothic"/>
                <a:ea typeface="Malgun Gothic"/>
              </a:rPr>
              <a:t>점선 구간 = 생성은 되지만 검색에선 못 건너는 죽은 링크 (파티션 조건 항상 AND)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7635240" y="1463040"/>
          <a:ext cx="4069080" cy="320954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17320"/>
                <a:gridCol w="2651760"/>
              </a:tblGrid>
              <a:tr h="534924"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</a:rPr>
                        <a:t>설정/사실</a:t>
                      </a:r>
                    </a:p>
                  </a:txBody>
                  <a:tcPr marL="76200" marR="76200" marT="25400" marB="25400" anchor="ctr">
                    <a:solidFill>
                      <a:srgbClr val="1E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</a:rPr>
                        <a:t>의미</a:t>
                      </a:r>
                    </a:p>
                  </a:txBody>
                  <a:tcPr marL="76200" marR="76200" marT="25400" marB="25400" anchor="ctr">
                    <a:solidFill>
                      <a:srgbClr val="1E3A5F"/>
                    </a:solidFill>
                  </a:tcPr>
                </a:tc>
              </a:tr>
              <a:tr h="534924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</a:rPr>
                        <a:t>payload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</a:rPr>
                        <a:t>포인트에 벡터와 함께 저장되는 속성 딕셔너리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</a:tr>
              <a:tr h="534924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</a:rPr>
                        <a:t>payload 색인 12개</a:t>
                      </a:r>
                    </a:p>
                  </a:txBody>
                  <a:tcPr marL="76200" marR="76200" marT="25400" marB="25400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</a:rPr>
                        <a:t>시스템 필드 11 + 파티션 키 — 스키마의 전 필드 자동 생성</a:t>
                      </a:r>
                    </a:p>
                  </a:txBody>
                  <a:tcPr marL="76200" marR="76200" marT="25400" marB="25400" anchor="ctr">
                    <a:solidFill>
                      <a:srgbClr val="F3F4F6"/>
                    </a:solidFill>
                  </a:tcPr>
                </a:tc>
              </a:tr>
              <a:tr h="534924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</a:rPr>
                        <a:t>값-그룹 링크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</a:rPr>
                        <a:t>색인된 필드마다 '같은 값끼리' 잇는 링크망 → 조건 검색의 전용 길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</a:tr>
              <a:tr h="534924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</a:rPr>
                        <a:t>is_tenant=True</a:t>
                      </a:r>
                    </a:p>
                  </a:txBody>
                  <a:tcPr marL="76200" marR="76200" marT="25400" marB="25400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</a:rPr>
                        <a:t>링크 아님 — 같은 파티션 벡터를 디스크에 인접 배치 (순차 읽기)</a:t>
                      </a:r>
                    </a:p>
                  </a:txBody>
                  <a:tcPr marL="76200" marR="76200" marT="25400" marB="25400" anchor="ctr">
                    <a:solidFill>
                      <a:srgbClr val="F3F4F6"/>
                    </a:solidFill>
                  </a:tcPr>
                </a:tc>
              </a:tr>
              <a:tr h="534924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</a:rPr>
                        <a:t>등록의 의미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</a:rPr>
                        <a:t>properties_schema 등록 = user_id에 색인+전용 링크가 생김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502920" y="4892040"/>
            <a:ext cx="112014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1" i="0">
                <a:solidFill>
                  <a:srgbClr val="1E3A5F"/>
                </a:solidFill>
                <a:latin typeface="Malgun Gothic"/>
                <a:ea typeface="Malgun Gothic"/>
              </a:rPr>
              <a:t>검색: 플래너가 조건의 카디널리티(걸릴 건수)를 색인으로 추정해 전략 선택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02920" y="5303520"/>
            <a:ext cx="5440680" cy="777240"/>
          </a:xfrm>
          <a:prstGeom prst="roundRect">
            <a:avLst>
              <a:gd name="adj" fmla="val 8000"/>
            </a:avLst>
          </a:prstGeom>
          <a:solidFill>
            <a:srgbClr val="E6F2F0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l"/>
            <a:r>
              <a:rPr sz="1100" b="0" i="0">
                <a:solidFill>
                  <a:srgbClr val="1F2937"/>
                </a:solidFill>
                <a:latin typeface="Malgun Gothic"/>
                <a:ea typeface="Malgun Gothic"/>
              </a:rPr>
              <a:t>조건이 선택적(소수) → </a:t>
            </a:r>
            <a:r>
              <a:rPr sz="1100" b="1" i="0">
                <a:solidFill>
                  <a:srgbClr val="1F2937"/>
                </a:solidFill>
                <a:latin typeface="Malgun Gothic"/>
                <a:ea typeface="Malgun Gothic"/>
              </a:rPr>
              <a:t>명단 직행</a:t>
            </a:r>
          </a:p>
          <a:p>
            <a:pPr algn="l"/>
            <a:r>
              <a:rPr sz="1100" b="0" i="0">
                <a:solidFill>
                  <a:srgbClr val="1F2937"/>
                </a:solidFill>
                <a:latin typeface="Malgun Gothic"/>
                <a:ea typeface="Malgun Gothic"/>
              </a:rPr>
              <a:t>색인에서 후보를 뽑아 전수 거리 계산 (그래프 안 걸음)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172200" y="5303520"/>
            <a:ext cx="5532120" cy="777240"/>
          </a:xfrm>
          <a:prstGeom prst="roundRect">
            <a:avLst>
              <a:gd name="adj" fmla="val 8000"/>
            </a:avLst>
          </a:prstGeom>
          <a:solidFill>
            <a:srgbClr val="E6F2F0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l"/>
            <a:r>
              <a:rPr sz="1100" b="0" i="0">
                <a:solidFill>
                  <a:srgbClr val="1F2937"/>
                </a:solidFill>
                <a:latin typeface="Malgun Gothic"/>
                <a:ea typeface="Malgun Gothic"/>
              </a:rPr>
              <a:t>후보가 많음 → </a:t>
            </a:r>
            <a:r>
              <a:rPr sz="1100" b="1" i="0">
                <a:solidFill>
                  <a:srgbClr val="1F2937"/>
                </a:solidFill>
                <a:latin typeface="Malgun Gothic"/>
                <a:ea typeface="Malgun Gothic"/>
              </a:rPr>
              <a:t>필터드 그래프 걷기</a:t>
            </a:r>
          </a:p>
          <a:p>
            <a:pPr algn="l"/>
            <a:r>
              <a:rPr sz="1100" b="0" i="0">
                <a:solidFill>
                  <a:srgbClr val="1F2937"/>
                </a:solidFill>
                <a:latin typeface="Malgun Gothic"/>
                <a:ea typeface="Malgun Gothic"/>
              </a:rPr>
              <a:t>AND 전체를 만족하는 노드만 밟음 · 어느 필름의 링크든 사용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" y="6473952"/>
            <a:ext cx="1124712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900" b="0" i="0">
                <a:solidFill>
                  <a:srgbClr val="AFB6C2"/>
                </a:solidFill>
                <a:latin typeface="Malgun Gothic"/>
                <a:ea typeface="Malgun Gothic"/>
              </a:rPr>
              <a:t>MemMachine × VectorDB 구조 분석  ·  기준 upstream/main 2d28c1c  ·  2026-08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241280" cy="6400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Malgun Gothic"/>
                <a:ea typeface="Malgun Gothic"/>
              </a:rPr>
              <a:t>Milvus — 64개 물리 버킷 + 비트셋 필터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85855" y="201168"/>
            <a:ext cx="64008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200" b="0" i="0">
                <a:solidFill>
                  <a:srgbClr val="9FB3CC"/>
                </a:solidFill>
                <a:latin typeface="Malgun Gothic"/>
                <a:ea typeface="Malgun Gothic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32688"/>
            <a:ext cx="111556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0" i="0">
                <a:solidFill>
                  <a:srgbClr val="6B7280"/>
                </a:solidFill>
                <a:latin typeface="Malgun Gothic"/>
                <a:ea typeface="Malgun Gothic"/>
              </a:rPr>
              <a:t>값-그룹 링크 개념이 없다. 좁히기는 파티션 키 1개, 나머지는 전부 '사후 걸러내기'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53312"/>
            <a:ext cx="6903720" cy="22128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426464"/>
            <a:ext cx="640080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50" b="1" i="0">
                <a:solidFill>
                  <a:srgbClr val="1E3A5F"/>
                </a:solidFill>
                <a:latin typeface="Malgun Gothic"/>
                <a:ea typeface="Malgun Gothic"/>
              </a:rPr>
              <a:t>hash(파티션키) % 64  →  물리 버킷 배정 (개수 고정)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1847088"/>
            <a:ext cx="960120" cy="868680"/>
          </a:xfrm>
          <a:prstGeom prst="roundRect">
            <a:avLst>
              <a:gd name="adj" fmla="val 8000"/>
            </a:avLst>
          </a:prstGeom>
          <a:solidFill>
            <a:srgbClr val="FBEEDD"/>
          </a:solidFill>
          <a:ln w="12700">
            <a:solidFill>
              <a:srgbClr val="B45F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950" b="0" i="0">
                <a:solidFill>
                  <a:srgbClr val="1F2937"/>
                </a:solidFill>
                <a:latin typeface="Malgun Gothic"/>
                <a:ea typeface="Malgun Gothic"/>
              </a:rPr>
              <a:t>버킷 0</a:t>
            </a:r>
          </a:p>
          <a:p>
            <a:pPr algn="ctr"/>
            <a:r>
              <a:rPr sz="950" b="0" i="0">
                <a:solidFill>
                  <a:srgbClr val="1F2937"/>
                </a:solidFill>
                <a:latin typeface="Malgun Gothic"/>
                <a:ea typeface="Malgun Gothic"/>
              </a:rPr>
              <a:t>prjA,X…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938528" y="1847088"/>
            <a:ext cx="960120" cy="86868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950" b="0" i="0">
                <a:solidFill>
                  <a:srgbClr val="1F2937"/>
                </a:solidFill>
                <a:latin typeface="Malgun Gothic"/>
                <a:ea typeface="Malgun Gothic"/>
              </a:rPr>
              <a:t>버킷 1</a:t>
            </a:r>
          </a:p>
          <a:p>
            <a:pPr algn="ctr"/>
            <a:r>
              <a:rPr sz="950" b="0" i="0">
                <a:solidFill>
                  <a:srgbClr val="1F2937"/>
                </a:solidFill>
                <a:latin typeface="Malgun Gothic"/>
                <a:ea typeface="Malgun Gothic"/>
              </a:rPr>
              <a:t>…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008376" y="1847088"/>
            <a:ext cx="960120" cy="868680"/>
          </a:xfrm>
          <a:prstGeom prst="roundRect">
            <a:avLst>
              <a:gd name="adj" fmla="val 8000"/>
            </a:avLst>
          </a:prstGeom>
          <a:solidFill>
            <a:srgbClr val="FBEEDD"/>
          </a:solidFill>
          <a:ln w="12700">
            <a:solidFill>
              <a:srgbClr val="B45F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950" b="0" i="0">
                <a:solidFill>
                  <a:srgbClr val="1F2937"/>
                </a:solidFill>
                <a:latin typeface="Malgun Gothic"/>
                <a:ea typeface="Malgun Gothic"/>
              </a:rPr>
              <a:t>버킷 2</a:t>
            </a:r>
          </a:p>
          <a:p>
            <a:pPr algn="ctr"/>
            <a:r>
              <a:rPr sz="950" b="0" i="0">
                <a:solidFill>
                  <a:srgbClr val="1F2937"/>
                </a:solidFill>
                <a:latin typeface="Malgun Gothic"/>
                <a:ea typeface="Malgun Gothic"/>
              </a:rPr>
              <a:t>prjB,Y…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078224" y="1847088"/>
            <a:ext cx="960120" cy="86868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950" b="0" i="0">
                <a:solidFill>
                  <a:srgbClr val="1F2937"/>
                </a:solidFill>
                <a:latin typeface="Malgun Gothic"/>
                <a:ea typeface="Malgun Gothic"/>
              </a:rPr>
              <a:t>버킷 3</a:t>
            </a:r>
          </a:p>
          <a:p>
            <a:pPr algn="ctr"/>
            <a:r>
              <a:rPr sz="950" b="0" i="0">
                <a:solidFill>
                  <a:srgbClr val="1F2937"/>
                </a:solidFill>
                <a:latin typeface="Malgun Gothic"/>
                <a:ea typeface="Malgun Gothic"/>
              </a:rPr>
              <a:t>…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48072" y="1847088"/>
            <a:ext cx="960120" cy="86868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950" b="0" i="0">
                <a:solidFill>
                  <a:srgbClr val="1F2937"/>
                </a:solidFill>
                <a:latin typeface="Malgun Gothic"/>
                <a:ea typeface="Malgun Gothic"/>
              </a:rPr>
              <a:t>버킷 4</a:t>
            </a:r>
          </a:p>
          <a:p>
            <a:pPr algn="ctr"/>
            <a:r>
              <a:rPr sz="950" b="0" i="0">
                <a:solidFill>
                  <a:srgbClr val="1F2937"/>
                </a:solidFill>
                <a:latin typeface="Malgun Gothic"/>
                <a:ea typeface="Malgun Gothic"/>
              </a:rPr>
              <a:t>…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847088"/>
            <a:ext cx="960120" cy="86868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950" b="0" i="0">
                <a:solidFill>
                  <a:srgbClr val="1F2937"/>
                </a:solidFill>
                <a:latin typeface="Malgun Gothic"/>
                <a:ea typeface="Malgun Gothic"/>
              </a:rPr>
              <a:t>버킷 5</a:t>
            </a:r>
          </a:p>
          <a:p>
            <a:pPr algn="ctr"/>
            <a:r>
              <a:rPr sz="950" b="0" i="0">
                <a:solidFill>
                  <a:srgbClr val="1F2937"/>
                </a:solidFill>
                <a:latin typeface="Malgun Gothic"/>
                <a:ea typeface="Malgun Gothic"/>
              </a:rPr>
              <a:t>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2834640"/>
            <a:ext cx="6400800" cy="5943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B7280"/>
                </a:solidFill>
                <a:latin typeface="Malgun Gothic"/>
                <a:ea typeface="Malgun Gothic"/>
              </a:rPr>
              <a:t>여러 프로젝트가 버킷을 공유 (해시 충돌은 정상 동작)</a:t>
            </a:r>
          </a:p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B7280"/>
                </a:solidFill>
                <a:latin typeface="Malgun Gothic"/>
                <a:ea typeface="Malgun Gothic"/>
              </a:rPr>
              <a:t>프로젝트 1만 개여도 버킷은 64개 — 프로젝트당 생성 비용 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520" y="1353312"/>
            <a:ext cx="406908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50" b="1" i="0">
                <a:solidFill>
                  <a:srgbClr val="1E3A5F"/>
                </a:solidFill>
                <a:latin typeface="Malgun Gothic"/>
                <a:ea typeface="Malgun Gothic"/>
              </a:rPr>
              <a:t>검색 실행 4단계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89520" y="1700784"/>
            <a:ext cx="4069080" cy="457200"/>
          </a:xfrm>
          <a:prstGeom prst="roundRect">
            <a:avLst>
              <a:gd name="adj" fmla="val 8000"/>
            </a:avLst>
          </a:prstGeom>
          <a:solidFill>
            <a:srgbClr val="FBEEDD"/>
          </a:solidFill>
          <a:ln w="12700">
            <a:solidFill>
              <a:srgbClr val="B45F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l"/>
            <a:r>
              <a:rPr sz="960" b="1" i="0">
                <a:solidFill>
                  <a:srgbClr val="1F2937"/>
                </a:solidFill>
                <a:latin typeface="Malgun Gothic"/>
                <a:ea typeface="Malgun Gothic"/>
              </a:rPr>
              <a:t>① 프루닝</a:t>
            </a:r>
            <a:r>
              <a:rPr sz="960" b="0" i="0">
                <a:solidFill>
                  <a:srgbClr val="1F2937"/>
                </a:solidFill>
                <a:latin typeface="Malgun Gothic"/>
                <a:ea typeface="Malgun Gothic"/>
              </a:rPr>
              <a:t>  파티션 키 항 → 버킷 1개만 (63개 제외)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89520" y="2240280"/>
            <a:ext cx="4069080" cy="658368"/>
          </a:xfrm>
          <a:prstGeom prst="roundRect">
            <a:avLst>
              <a:gd name="adj" fmla="val 8000"/>
            </a:avLst>
          </a:prstGeom>
          <a:solidFill>
            <a:srgbClr val="FBEEDD"/>
          </a:solidFill>
          <a:ln w="12700">
            <a:solidFill>
              <a:srgbClr val="B45F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l"/>
            <a:r>
              <a:rPr sz="960" b="1" i="0">
                <a:solidFill>
                  <a:srgbClr val="1F2937"/>
                </a:solidFill>
                <a:latin typeface="Malgun Gothic"/>
                <a:ea typeface="Malgun Gothic"/>
              </a:rPr>
              <a:t>② 비트셋</a:t>
            </a:r>
            <a:r>
              <a:rPr sz="960" b="0" i="0">
                <a:solidFill>
                  <a:srgbClr val="1F2937"/>
                </a:solidFill>
                <a:latin typeface="Malgun Gothic"/>
                <a:ea typeface="Malgun Gothic"/>
              </a:rPr>
              <a:t>  잔여 조건을 세그먼트마다 행 단위 평가 →</a:t>
            </a:r>
          </a:p>
          <a:p>
            <a:pPr algn="l"/>
            <a:r>
              <a:rPr sz="960" b="0" i="0">
                <a:solidFill>
                  <a:srgbClr val="1F2937"/>
                </a:solidFill>
                <a:latin typeface="Malgun Gothic"/>
                <a:ea typeface="Malgun Gothic"/>
              </a:rPr>
              <a:t>통과/탈락 명단. _p_* 무인덱스 = 전 행 순회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589520" y="2980944"/>
            <a:ext cx="4069080" cy="457200"/>
          </a:xfrm>
          <a:prstGeom prst="roundRect">
            <a:avLst>
              <a:gd name="adj" fmla="val 8000"/>
            </a:avLst>
          </a:prstGeom>
          <a:solidFill>
            <a:srgbClr val="FBEEDD"/>
          </a:solidFill>
          <a:ln w="12700">
            <a:solidFill>
              <a:srgbClr val="B45F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l"/>
            <a:r>
              <a:rPr sz="960" b="1" i="0">
                <a:solidFill>
                  <a:srgbClr val="1F2937"/>
                </a:solidFill>
                <a:latin typeface="Malgun Gothic"/>
                <a:ea typeface="Malgun Gothic"/>
              </a:rPr>
              <a:t>③ 그래프+마스크</a:t>
            </a:r>
            <a:r>
              <a:rPr sz="960" b="0" i="0">
                <a:solidFill>
                  <a:srgbClr val="1F2937"/>
                </a:solidFill>
                <a:latin typeface="Malgun Gothic"/>
                <a:ea typeface="Malgun Gothic"/>
              </a:rPr>
              <a:t>  AUTOINDEX 그래프를 걷되 탈락 노드 건너뜀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589520" y="3520440"/>
            <a:ext cx="4069080" cy="457200"/>
          </a:xfrm>
          <a:prstGeom prst="roundRect">
            <a:avLst>
              <a:gd name="adj" fmla="val 8000"/>
            </a:avLst>
          </a:prstGeom>
          <a:solidFill>
            <a:srgbClr val="FBEEDD"/>
          </a:solidFill>
          <a:ln w="12700">
            <a:solidFill>
              <a:srgbClr val="B45F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l"/>
            <a:r>
              <a:rPr sz="960" b="1" i="0">
                <a:solidFill>
                  <a:srgbClr val="1F2937"/>
                </a:solidFill>
                <a:latin typeface="Malgun Gothic"/>
                <a:ea typeface="Malgun Gothic"/>
              </a:rPr>
              <a:t>④ 점수 재계산</a:t>
            </a:r>
            <a:r>
              <a:rPr sz="960" b="0" i="0">
                <a:solidFill>
                  <a:srgbClr val="1F2937"/>
                </a:solidFill>
                <a:latin typeface="Malgun Gothic"/>
                <a:ea typeface="Malgun Gothic"/>
              </a:rPr>
              <a:t>  Lite=거리 / Zilliz=유사도 → 로컬 통일 (:306)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3822191"/>
            <a:ext cx="11155680" cy="34747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1" i="0">
                <a:solidFill>
                  <a:srgbClr val="1E3A5F"/>
                </a:solidFill>
                <a:latin typeface="Malgun Gothic"/>
                <a:ea typeface="Malgun Gothic"/>
              </a:rPr>
              <a:t>용어 4개만 기억하면 된다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502920" y="4206240"/>
          <a:ext cx="11201399" cy="21031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36295"/>
                <a:gridCol w="9365104"/>
              </a:tblGrid>
              <a:tr h="420624"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</a:rPr>
                        <a:t>용어</a:t>
                      </a:r>
                    </a:p>
                  </a:txBody>
                  <a:tcPr marL="76200" marR="76200" marT="25400" marB="25400" anchor="ctr">
                    <a:solidFill>
                      <a:srgbClr val="1E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</a:rPr>
                        <a:t>뜻</a:t>
                      </a:r>
                    </a:p>
                  </a:txBody>
                  <a:tcPr marL="76200" marR="76200" marT="25400" marB="25400" anchor="ctr">
                    <a:solidFill>
                      <a:srgbClr val="1E3A5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</a:rPr>
                        <a:t>세그먼트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</a:rPr>
                        <a:t>DB가 데이터를 내부적으로 나눠 담는 물리 파일 단위 — 우리가 만들지도, 개수를 제어하지도 않음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</a:rPr>
                        <a:t>비트셋</a:t>
                      </a:r>
                    </a:p>
                  </a:txBody>
                  <a:tcPr marL="76200" marR="76200" marT="25400" marB="25400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</a:rPr>
                        <a:t>행마다 조건 통과 여부를 표시한 비트 배열 = '통과자 명단'. 그래프 탐색이 이 명단을 보며 건너뜀</a:t>
                      </a:r>
                    </a:p>
                  </a:txBody>
                  <a:tcPr marL="76200" marR="76200" marT="25400" marB="25400" anchor="ctr">
                    <a:solidFill>
                      <a:srgbClr val="F3F4F6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</a:rPr>
                        <a:t>AUTOINDEX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</a:rPr>
                        <a:t>'벡터 인덱스 종류를 Milvus가 골라라'는 위임 설정. 실제 선택은 describe_index로 확인 (실측 항목)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</a:rPr>
                        <a:t>동적 필드 _p_&lt;키&gt;</a:t>
                      </a:r>
                    </a:p>
                  </a:txBody>
                  <a:tcPr marL="76200" marR="76200" marT="25400" marB="25400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</a:rPr>
                        <a:t>스키마에 없던 컬럼을 행마다 붙이는 기능. metadata 키마다 생성되나 인덱스 0개 (:178-197)</a:t>
                      </a:r>
                    </a:p>
                  </a:txBody>
                  <a:tcPr marL="76200" marR="76200" marT="25400" marB="25400" anchor="ctr"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502920" y="6473952"/>
            <a:ext cx="1124712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900" b="0" i="0">
                <a:solidFill>
                  <a:srgbClr val="AFB6C2"/>
                </a:solidFill>
                <a:latin typeface="Malgun Gothic"/>
                <a:ea typeface="Malgun Gothic"/>
              </a:rPr>
              <a:t>MemMachine × VectorDB 구조 분석  ·  기준 upstream/main 2d28c1c  ·  2026-08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241280" cy="6400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Malgun Gothic"/>
                <a:ea typeface="Malgun Gothic"/>
              </a:rPr>
              <a:t>같은 filter, 다른 물리 실행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85855" y="201168"/>
            <a:ext cx="64008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200" b="0" i="0">
                <a:solidFill>
                  <a:srgbClr val="9FB3CC"/>
                </a:solidFill>
                <a:latin typeface="Malgun Gothic"/>
                <a:ea typeface="Malgun Gothic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87552"/>
            <a:ext cx="11155680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0" i="0">
                <a:solidFill>
                  <a:srgbClr val="6B7280"/>
                </a:solidFill>
                <a:latin typeface="Malgun Gothic"/>
                <a:ea typeface="Malgun Gothic"/>
              </a:rPr>
              <a:t>filter: "m.user_id = 'u1'"  —  파티션 조건은 MemMachine 코드가 항상 AND로 조립 (DB 강제 아님)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444752"/>
            <a:ext cx="11201400" cy="73152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l"/>
            <a:r>
              <a:rPr sz="1050" b="0" i="0">
                <a:solidFill>
                  <a:srgbClr val="1F2937"/>
                </a:solidFill>
                <a:latin typeface="Consolas"/>
                <a:ea typeface="Consolas"/>
              </a:rPr>
              <a:t>Qdrant   Filter(must=[ sys-partition_key == P , user_id == u1 ])      qdrant_vector_store.py:352</a:t>
            </a:r>
          </a:p>
          <a:p>
            <a:pPr algn="l"/>
            <a:r>
              <a:rPr sz="1050" b="0" i="0">
                <a:solidFill>
                  <a:srgbClr val="1F2937"/>
                </a:solidFill>
                <a:latin typeface="Consolas"/>
                <a:ea typeface="Consolas"/>
              </a:rPr>
              <a:t>Milvus   "(partition_key == P) &amp;&amp; (_p_user_id == u1)"                 milvus_vector_store.py:294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286000"/>
            <a:ext cx="54864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500" b="1" i="0">
                <a:solidFill>
                  <a:srgbClr val="0F766E"/>
                </a:solidFill>
                <a:latin typeface="Malgun Gothic"/>
                <a:ea typeface="Malgun Gothic"/>
              </a:rPr>
              <a:t>Qdrant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2286000"/>
            <a:ext cx="54864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500" b="1" i="0">
                <a:solidFill>
                  <a:srgbClr val="B45F06"/>
                </a:solidFill>
                <a:latin typeface="Malgun Gothic"/>
                <a:ea typeface="Malgun Gothic"/>
              </a:rPr>
              <a:t>Milvus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697480"/>
            <a:ext cx="5486400" cy="548640"/>
          </a:xfrm>
          <a:prstGeom prst="roundRect">
            <a:avLst>
              <a:gd name="adj" fmla="val 8000"/>
            </a:avLst>
          </a:prstGeom>
          <a:solidFill>
            <a:srgbClr val="E6F2F0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l"/>
            <a:r>
              <a:rPr sz="1100" b="0" i="0">
                <a:solidFill>
                  <a:srgbClr val="1F2937"/>
                </a:solidFill>
                <a:latin typeface="Malgun Gothic"/>
                <a:ea typeface="Malgun Gothic"/>
              </a:rPr>
              <a:t>1. 파티션 조건 → 검색 공간이 그 파티션 그룹으로 닫힘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2697480"/>
            <a:ext cx="5394960" cy="548640"/>
          </a:xfrm>
          <a:prstGeom prst="roundRect">
            <a:avLst>
              <a:gd name="adj" fmla="val 8000"/>
            </a:avLst>
          </a:prstGeom>
          <a:solidFill>
            <a:srgbClr val="FBEEDD"/>
          </a:solidFill>
          <a:ln w="12700">
            <a:solidFill>
              <a:srgbClr val="B45F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l"/>
            <a:r>
              <a:rPr sz="1100" b="0" i="0">
                <a:solidFill>
                  <a:srgbClr val="1F2937"/>
                </a:solidFill>
                <a:latin typeface="Malgun Gothic"/>
                <a:ea typeface="Malgun Gothic"/>
              </a:rPr>
              <a:t>1. 파티션 키 해시 → 버킷 1개로 프루닝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337560"/>
            <a:ext cx="5486400" cy="548640"/>
          </a:xfrm>
          <a:prstGeom prst="roundRect">
            <a:avLst>
              <a:gd name="adj" fmla="val 8000"/>
            </a:avLst>
          </a:prstGeom>
          <a:solidFill>
            <a:srgbClr val="E6F2F0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l"/>
            <a:r>
              <a:rPr sz="1100" b="0" i="0">
                <a:solidFill>
                  <a:srgbClr val="1F2937"/>
                </a:solidFill>
                <a:latin typeface="Malgun Gothic"/>
                <a:ea typeface="Malgun Gothic"/>
              </a:rPr>
              <a:t>2. 플래너: u1 색인으로 건수 추정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3337560"/>
            <a:ext cx="5394960" cy="548640"/>
          </a:xfrm>
          <a:prstGeom prst="roundRect">
            <a:avLst>
              <a:gd name="adj" fmla="val 8000"/>
            </a:avLst>
          </a:prstGeom>
          <a:solidFill>
            <a:srgbClr val="FBEEDD"/>
          </a:solidFill>
          <a:ln w="12700">
            <a:solidFill>
              <a:srgbClr val="B45F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l"/>
            <a:r>
              <a:rPr sz="1100" b="0" i="0">
                <a:solidFill>
                  <a:srgbClr val="1F2937"/>
                </a:solidFill>
                <a:latin typeface="Malgun Gothic"/>
                <a:ea typeface="Malgun Gothic"/>
              </a:rPr>
              <a:t>2. _p_user_id 식을 전 행 평가 → 비트셋 (인덱스 없음)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977640"/>
            <a:ext cx="5486400" cy="548640"/>
          </a:xfrm>
          <a:prstGeom prst="roundRect">
            <a:avLst>
              <a:gd name="adj" fmla="val 8000"/>
            </a:avLst>
          </a:prstGeom>
          <a:solidFill>
            <a:srgbClr val="E6F2F0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l"/>
            <a:r>
              <a:rPr sz="1100" b="0" i="0">
                <a:solidFill>
                  <a:srgbClr val="1F2937"/>
                </a:solidFill>
                <a:latin typeface="Malgun Gothic"/>
                <a:ea typeface="Malgun Gothic"/>
              </a:rPr>
              <a:t>3. 적으면 명단 직행 / 많으면 u1 링크망 걷기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3977640"/>
            <a:ext cx="5394960" cy="548640"/>
          </a:xfrm>
          <a:prstGeom prst="roundRect">
            <a:avLst>
              <a:gd name="adj" fmla="val 8000"/>
            </a:avLst>
          </a:prstGeom>
          <a:solidFill>
            <a:srgbClr val="FBEEDD"/>
          </a:solidFill>
          <a:ln w="12700">
            <a:solidFill>
              <a:srgbClr val="B45F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l"/>
            <a:r>
              <a:rPr sz="1100" b="0" i="0">
                <a:solidFill>
                  <a:srgbClr val="1F2937"/>
                </a:solidFill>
                <a:latin typeface="Malgun Gothic"/>
                <a:ea typeface="Malgun Gothic"/>
              </a:rPr>
              <a:t>3. AUTOINDEX 그래프 + 비트셋 마스크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4617720"/>
            <a:ext cx="5486400" cy="548640"/>
          </a:xfrm>
          <a:prstGeom prst="roundRect">
            <a:avLst>
              <a:gd name="adj" fmla="val 8000"/>
            </a:avLst>
          </a:prstGeom>
          <a:solidFill>
            <a:srgbClr val="E6F2F0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l"/>
            <a:r>
              <a:rPr sz="1100" b="0" i="0">
                <a:solidFill>
                  <a:srgbClr val="1F2937"/>
                </a:solidFill>
                <a:latin typeface="Malgun Gothic"/>
                <a:ea typeface="Malgun Gothic"/>
              </a:rPr>
              <a:t>4. 남의 파티션 벡터는 방문 경로 자체가 없음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4617720"/>
            <a:ext cx="5394960" cy="548640"/>
          </a:xfrm>
          <a:prstGeom prst="roundRect">
            <a:avLst>
              <a:gd name="adj" fmla="val 8000"/>
            </a:avLst>
          </a:prstGeom>
          <a:solidFill>
            <a:srgbClr val="FBEEDD"/>
          </a:solidFill>
          <a:ln w="12700">
            <a:solidFill>
              <a:srgbClr val="B45F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l"/>
            <a:r>
              <a:rPr sz="1100" b="0" i="0">
                <a:solidFill>
                  <a:srgbClr val="1F2937"/>
                </a:solidFill>
                <a:latin typeface="Malgun Gothic"/>
                <a:ea typeface="Malgun Gothic"/>
              </a:rPr>
              <a:t>4. 남의 벡터를 밟되 결과에서 제외 (헛걸음 발생)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5349240"/>
            <a:ext cx="11201400" cy="868680"/>
          </a:xfrm>
          <a:prstGeom prst="roundRect">
            <a:avLst>
              <a:gd name="adj" fmla="val 8000"/>
            </a:avLst>
          </a:prstGeom>
          <a:solidFill>
            <a:srgbClr val="E8EEF6"/>
          </a:solidFill>
          <a:ln w="1524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5440680"/>
            <a:ext cx="10789920" cy="6858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1E3A5F"/>
                </a:solidFill>
                <a:latin typeface="Malgun Gothic"/>
                <a:ea typeface="Malgun Gothic"/>
              </a:rPr>
              <a:t>결론: 사용자 조건 검색의 품질·비용이 백엔드에 따라 갈린다.</a:t>
            </a:r>
          </a:p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1E3A5F"/>
                </a:solidFill>
                <a:latin typeface="Malgun Gothic"/>
                <a:ea typeface="Malgun Gothic"/>
              </a:rPr>
              <a:t>Qdrant는 '전용 길'(값-그룹 링크)이 있고, Milvus는 '명단 들고 큰길 걷기'(비트셋)뿐 — 사용자 축 가속은 Qdrant 전제에서만 성립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73952"/>
            <a:ext cx="1124712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900" b="0" i="0">
                <a:solidFill>
                  <a:srgbClr val="AFB6C2"/>
                </a:solidFill>
                <a:latin typeface="Malgun Gothic"/>
                <a:ea typeface="Malgun Gothic"/>
              </a:rPr>
              <a:t>MemMachine × VectorDB 구조 분석  ·  기준 upstream/main 2d28c1c  ·  2026-08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241280" cy="6400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Malgun Gothic"/>
                <a:ea typeface="Malgun Gothic"/>
              </a:rPr>
              <a:t>프로젝트가 늘 때, 무엇이 실제로 생기나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85855" y="201168"/>
            <a:ext cx="64008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200" b="0" i="0">
                <a:solidFill>
                  <a:srgbClr val="9FB3CC"/>
                </a:solidFill>
                <a:latin typeface="Malgun Gothic"/>
                <a:ea typeface="Malgun Gothic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05840"/>
            <a:ext cx="11155680" cy="3840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400" b="1" i="0">
                <a:solidFill>
                  <a:srgbClr val="1F2937"/>
                </a:solidFill>
                <a:latin typeface="Malgun Gothic"/>
                <a:ea typeface="Malgun Gothic"/>
              </a:rPr>
              <a:t>구조 변경(DDL)이 발생하는 층은 Postgres뿐 — 확장 병목 1순위 후보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600200"/>
          <a:ext cx="11201398" cy="32918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32956"/>
                <a:gridCol w="4684221"/>
                <a:gridCol w="1629294"/>
                <a:gridCol w="3054927"/>
              </a:tblGrid>
              <a:tr h="658368"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</a:rPr>
                        <a:t>저장소</a:t>
                      </a:r>
                    </a:p>
                  </a:txBody>
                  <a:tcPr marL="76200" marR="76200" marT="25400" marB="25400" anchor="ctr">
                    <a:solidFill>
                      <a:srgbClr val="1E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</a:rPr>
                        <a:t>프로젝트 1개 추가 시 실행되는 것</a:t>
                      </a:r>
                    </a:p>
                  </a:txBody>
                  <a:tcPr marL="76200" marR="76200" marT="25400" marB="25400" anchor="ctr">
                    <a:solidFill>
                      <a:srgbClr val="1E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</a:rPr>
                        <a:t>분류</a:t>
                      </a:r>
                    </a:p>
                  </a:txBody>
                  <a:tcPr marL="76200" marR="76200" marT="25400" marB="25400" anchor="ctr">
                    <a:solidFill>
                      <a:srgbClr val="1E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</a:rPr>
                        <a:t>500 프로젝트면</a:t>
                      </a:r>
                    </a:p>
                  </a:txBody>
                  <a:tcPr marL="76200" marR="76200" marT="25400" marB="25400" anchor="ctr">
                    <a:solidFill>
                      <a:srgbClr val="1E3A5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</a:rPr>
                        <a:t>Qdrant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</a:rPr>
                        <a:t>장부(registry)에 행 1개 upsert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</a:rPr>
                        <a:t>DML — 가벼움</a:t>
                      </a:r>
                    </a:p>
                  </a:txBody>
                  <a:tcPr marL="76200" marR="76200" marT="25400" marB="25400" anchor="ctr">
                    <a:solidFill>
                      <a:srgbClr val="E6F2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</a:rPr>
                        <a:t>컬렉션 여전히 1개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</a:rPr>
                        <a:t>Milvus</a:t>
                      </a:r>
                    </a:p>
                  </a:txBody>
                  <a:tcPr marL="76200" marR="76200" marT="25400" marB="25400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</a:rPr>
                        <a:t>없음 (해시로 기존 버킷에 배정)</a:t>
                      </a:r>
                    </a:p>
                  </a:txBody>
                  <a:tcPr marL="76200" marR="76200" marT="25400" marB="25400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</a:rPr>
                        <a:t>—</a:t>
                      </a:r>
                    </a:p>
                  </a:txBody>
                  <a:tcPr marL="76200" marR="76200" marT="25400" marB="25400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</a:rPr>
                        <a:t>버킷 여전히 64개</a:t>
                      </a:r>
                    </a:p>
                  </a:txBody>
                  <a:tcPr marL="76200" marR="76200" marT="25400" marB="25400" anchor="ctr">
                    <a:solidFill>
                      <a:srgbClr val="F3F4F6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</a:rPr>
                        <a:t>Postgres</a:t>
                      </a:r>
                    </a:p>
                    <a:p>
                      <a:r>
                        <a:rPr sz="1150" b="0" i="0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</a:rPr>
                        <a:t>segment_store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</a:rPr>
                        <a:t>CREATE TABLE × 2</a:t>
                      </a:r>
                    </a:p>
                    <a:p>
                      <a:r>
                        <a:rPr sz="1150" b="0" i="0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</a:rPr>
                        <a:t>+ LOCK TABLE (한 번에 1개 트랜잭션만)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B42318"/>
                          </a:solidFill>
                          <a:latin typeface="Malgun Gothic"/>
                          <a:ea typeface="Malgun Gothic"/>
                        </a:rPr>
                        <a:t>DDL ⚠</a:t>
                      </a:r>
                    </a:p>
                  </a:txBody>
                  <a:tcPr marL="76200" marR="76200" marT="25400" marB="25400" anchor="ctr">
                    <a:solidFill>
                      <a:srgbClr val="FBE9E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</a:rPr>
                        <a:t>테이블 1,000개</a:t>
                      </a:r>
                    </a:p>
                    <a:p>
                      <a:r>
                        <a:rPr sz="1150" b="0" i="0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</a:rPr>
                        <a:t>동시 생성 직렬화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</a:rPr>
                        <a:t>앱 (서버 모드)</a:t>
                      </a:r>
                    </a:p>
                  </a:txBody>
                  <a:tcPr marL="76200" marR="76200" marT="25400" marB="25400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</a:rPr>
                        <a:t>EpisodicMemory 인스턴스 1개</a:t>
                      </a:r>
                    </a:p>
                  </a:txBody>
                  <a:tcPr marL="76200" marR="76200" marT="25400" marB="25400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</a:rPr>
                        <a:t>메모리</a:t>
                      </a:r>
                    </a:p>
                  </a:txBody>
                  <a:tcPr marL="76200" marR="76200" marT="25400" marB="25400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</a:rPr>
                        <a:t>LRU 한도 100 초과</a:t>
                      </a:r>
                    </a:p>
                    <a:p>
                      <a:r>
                        <a:rPr sz="1150" b="0" i="0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</a:rPr>
                        <a:t>→ 재생성 반복</a:t>
                      </a:r>
                    </a:p>
                  </a:txBody>
                  <a:tcPr marL="76200" marR="76200" marT="25400" marB="25400" anchor="ctr"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02920" y="5029200"/>
            <a:ext cx="11201400" cy="123444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138928"/>
            <a:ext cx="107899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1" i="0">
                <a:solidFill>
                  <a:srgbClr val="1E3A5F"/>
                </a:solidFill>
                <a:latin typeface="Malgun Gothic"/>
                <a:ea typeface="Malgun Gothic"/>
              </a:rPr>
              <a:t>근거 (PostgreSQL 공식 문서)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504688"/>
            <a:ext cx="10789920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F2937"/>
                </a:solidFill>
                <a:latin typeface="Malgun Gothic"/>
                <a:ea typeface="Malgun Gothic"/>
              </a:rPr>
              <a:t>· 정리(pruning) 후 남는 파티션이 많을수록 계획 수립 시간·메모리 증가   · 파티션 메타데이터는 접근하는 모든 세션의 로컬 메모리에 적재</a:t>
            </a:r>
          </a:p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F2937"/>
                </a:solidFill>
                <a:latin typeface="Malgun Gothic"/>
                <a:ea typeface="Malgun Gothic"/>
              </a:rPr>
              <a:t>· 생성 잠금(SHARE ROW EXCLUSIVE)은 자기충돌 — 동시 신규 프로젝트 N개 = 순차 대기  (sqlalchemy_segment_store.py:801, :1045)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73952"/>
            <a:ext cx="1124712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900" b="0" i="0">
                <a:solidFill>
                  <a:srgbClr val="AFB6C2"/>
                </a:solidFill>
                <a:latin typeface="Malgun Gothic"/>
                <a:ea typeface="Malgun Gothic"/>
              </a:rPr>
              <a:t>MemMachine × VectorDB 구조 분석  ·  기준 upstream/main 2d28c1c  ·  2026-08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241280" cy="6400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Malgun Gothic"/>
                <a:ea typeface="Malgun Gothic"/>
              </a:rPr>
              <a:t>코드에서 확인된 발견 3가지 — 전부 몇 줄 수정으로 검증 가능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85855" y="201168"/>
            <a:ext cx="64008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200" b="0" i="0">
                <a:solidFill>
                  <a:srgbClr val="9FB3CC"/>
                </a:solidFill>
                <a:latin typeface="Malgun Gothic"/>
                <a:ea typeface="Malgun Gothic"/>
              </a:rPr>
              <a:t>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234440"/>
            <a:ext cx="3639312" cy="3931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0320">
            <a:solidFill>
              <a:srgbClr val="B423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4088" y="1417320"/>
            <a:ext cx="3291840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500" b="1" i="0">
                <a:solidFill>
                  <a:srgbClr val="B42318"/>
                </a:solidFill>
                <a:latin typeface="Malgun Gothic"/>
                <a:ea typeface="Malgun Gothic"/>
              </a:rPr>
              <a:t>① 죽은 링크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4088" y="1965960"/>
            <a:ext cx="3291840" cy="3017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8000"/>
              </a:lnSpc>
            </a:pPr>
            <a:r>
              <a:rPr sz="1080" b="0" i="0">
                <a:solidFill>
                  <a:srgbClr val="1F2937"/>
                </a:solidFill>
                <a:latin typeface="Malgun Gothic"/>
                <a:ea typeface="Malgun Gothic"/>
              </a:rPr>
              <a:t>값-그룹 링크는 파티션을 모른 채 '같은 값끼리' 생성된다.</a:t>
            </a:r>
          </a:p>
          <a:p>
            <a:pPr algn="l">
              <a:lnSpc>
                <a:spcPct val="118000"/>
              </a:lnSpc>
            </a:pPr>
            <a:r>
              <a:rPr sz="1080" b="0" i="0">
                <a:solidFill>
                  <a:srgbClr val="1F2937"/>
                </a:solidFill>
                <a:latin typeface="Malgun Gothic"/>
                <a:ea typeface="Malgun Gothic"/>
              </a:rPr>
              <a:t>producer_role='assistant' 링크는 전 프로젝트를 관통 —</a:t>
            </a:r>
          </a:p>
          <a:p>
            <a:pPr algn="l">
              <a:lnSpc>
                <a:spcPct val="118000"/>
              </a:lnSpc>
            </a:pPr>
            <a:r>
              <a:rPr sz="1080" b="0" i="0">
                <a:solidFill>
                  <a:srgbClr val="1F2937"/>
                </a:solidFill>
                <a:latin typeface="Malgun Gothic"/>
                <a:ea typeface="Malgun Gothic"/>
              </a:rPr>
              <a:t>그러나 검색엔 파티션 조건이 항상 붙어 건널 수 없음.</a:t>
            </a:r>
          </a:p>
          <a:p>
            <a:pPr algn="l">
              <a:lnSpc>
                <a:spcPct val="118000"/>
              </a:lnSpc>
            </a:pPr>
            <a:r>
              <a:rPr sz="1080" b="0" i="0">
                <a:solidFill>
                  <a:srgbClr val="1F2937"/>
                </a:solidFill>
                <a:latin typeface="Malgun Gothic"/>
                <a:ea typeface="Malgun Gothic"/>
              </a:rPr>
              <a:t>→ 빌드·메모리 비용만 내는 링크가 기본 상태로 존재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88536" y="1234440"/>
            <a:ext cx="3639312" cy="3931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0320">
            <a:solidFill>
              <a:srgbClr val="B45F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9703" y="1417320"/>
            <a:ext cx="3291840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500" b="1" i="0">
                <a:solidFill>
                  <a:srgbClr val="B45F06"/>
                </a:solidFill>
                <a:latin typeface="Malgun Gothic"/>
                <a:ea typeface="Malgun Gothic"/>
              </a:rPr>
              <a:t>② 완전 중복 색인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9703" y="1965960"/>
            <a:ext cx="3291840" cy="3017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8000"/>
              </a:lnSpc>
            </a:pPr>
            <a:r>
              <a:rPr sz="1080" b="0" i="0">
                <a:solidFill>
                  <a:srgbClr val="1F2937"/>
                </a:solidFill>
                <a:latin typeface="Malgun Gothic"/>
                <a:ea typeface="Malgun Gothic"/>
              </a:rPr>
              <a:t>_session_key와 sys-partition_key는 같은 값이 두 키로</a:t>
            </a:r>
          </a:p>
          <a:p>
            <a:pPr algn="l">
              <a:lnSpc>
                <a:spcPct val="118000"/>
              </a:lnSpc>
            </a:pPr>
            <a:r>
              <a:rPr sz="1080" b="0" i="0">
                <a:solidFill>
                  <a:srgbClr val="1F2937"/>
                </a:solidFill>
                <a:latin typeface="Malgun Gothic"/>
                <a:ea typeface="Malgun Gothic"/>
              </a:rPr>
              <a:t>저장되고 색인도 두 벌. 검색 필터는 후자만 사용.</a:t>
            </a:r>
          </a:p>
          <a:p>
            <a:pPr algn="l">
              <a:lnSpc>
                <a:spcPct val="118000"/>
              </a:lnSpc>
            </a:pPr>
            <a:r>
              <a:rPr sz="1080" b="0" i="0">
                <a:solidFill>
                  <a:srgbClr val="1F2937"/>
                </a:solidFill>
                <a:latin typeface="Malgun Gothic"/>
                <a:ea typeface="Malgun Gothic"/>
              </a:rPr>
              <a:t>→ 전자의 색인+링크는 순수 낭비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74151" y="1234440"/>
            <a:ext cx="3639312" cy="3931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032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75319" y="1417320"/>
            <a:ext cx="3291840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500" b="1" i="0">
                <a:solidFill>
                  <a:srgbClr val="0F766E"/>
                </a:solidFill>
                <a:latin typeface="Malgun Gothic"/>
                <a:ea typeface="Malgun Gothic"/>
              </a:rPr>
              <a:t>③ enable_hnsw 미사용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75319" y="1965960"/>
            <a:ext cx="3291840" cy="3017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8000"/>
              </a:lnSpc>
            </a:pPr>
            <a:r>
              <a:rPr sz="1080" b="0" i="0">
                <a:solidFill>
                  <a:srgbClr val="1F2937"/>
                </a:solidFill>
                <a:latin typeface="Malgun Gothic"/>
                <a:ea typeface="Malgun Gothic"/>
              </a:rPr>
              <a:t>Qdrant는 필드별로 링크 생성을 끄는 스위치를 제공</a:t>
            </a:r>
          </a:p>
          <a:p>
            <a:pPr algn="l">
              <a:lnSpc>
                <a:spcPct val="118000"/>
              </a:lnSpc>
            </a:pPr>
            <a:r>
              <a:rPr sz="1080" b="0" i="0">
                <a:solidFill>
                  <a:srgbClr val="1F2937"/>
                </a:solidFill>
                <a:latin typeface="Malgun Gothic"/>
                <a:ea typeface="Malgun Gothic"/>
              </a:rPr>
              <a:t>(qdrant-client 1.17.0 지원 확인). MemMachine은 미사용.</a:t>
            </a:r>
          </a:p>
          <a:p>
            <a:pPr algn="l">
              <a:lnSpc>
                <a:spcPct val="118000"/>
              </a:lnSpc>
            </a:pPr>
            <a:r>
              <a:rPr sz="1080" b="0" i="0">
                <a:solidFill>
                  <a:srgbClr val="1F2937"/>
                </a:solidFill>
                <a:latin typeface="Malgun Gothic"/>
                <a:ea typeface="Malgun Gothic"/>
              </a:rPr>
              <a:t>→ _session_key·_episode_uid(전부 고유값)·_content_type(값 1종)</a:t>
            </a:r>
          </a:p>
          <a:p>
            <a:pPr algn="l">
              <a:lnSpc>
                <a:spcPct val="118000"/>
              </a:lnSpc>
            </a:pPr>
            <a:r>
              <a:rPr sz="1080" b="0" i="0">
                <a:solidFill>
                  <a:srgbClr val="1F2937"/>
                </a:solidFill>
                <a:latin typeface="Malgun Gothic"/>
                <a:ea typeface="Malgun Gothic"/>
              </a:rPr>
              <a:t>   링크를 끄면 빌드·메모리 절감 예상 — 미검증 개선 후보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5440680"/>
            <a:ext cx="11201400" cy="822960"/>
          </a:xfrm>
          <a:prstGeom prst="roundRect">
            <a:avLst>
              <a:gd name="adj" fmla="val 8000"/>
            </a:avLst>
          </a:prstGeom>
          <a:solidFill>
            <a:srgbClr val="E8EEF6"/>
          </a:solidFill>
          <a:ln w="1270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5559552"/>
            <a:ext cx="1078992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E3A5F"/>
                </a:solidFill>
                <a:latin typeface="Malgun Gothic"/>
                <a:ea typeface="Malgun Gothic"/>
              </a:rPr>
              <a:t>의미: 기본 상태의 인덱스 12개 중 상당수가 우리 사용 패턴에서 쓸 일이 없다.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E3A5F"/>
                </a:solidFill>
                <a:latin typeface="Malgun Gothic"/>
                <a:ea typeface="Malgun Gothic"/>
              </a:rPr>
              <a:t>"인덱싱할 필드를 선택 가능하게" 자체가 upstream 기여 + 성능 개선 아이템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73952"/>
            <a:ext cx="1124712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900" b="0" i="0">
                <a:solidFill>
                  <a:srgbClr val="AFB6C2"/>
                </a:solidFill>
                <a:latin typeface="Malgun Gothic"/>
                <a:ea typeface="Malgun Gothic"/>
              </a:rPr>
              <a:t>MemMachine × VectorDB 구조 분석  ·  기준 upstream/main 2d28c1c  ·  2026-08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241280" cy="6400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Malgun Gothic"/>
                <a:ea typeface="Malgun Gothic"/>
              </a:rPr>
              <a:t>시사점 — 사용자 축을 어디에 둘 것인가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85855" y="201168"/>
            <a:ext cx="64008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200" b="0" i="0">
                <a:solidFill>
                  <a:srgbClr val="9FB3CC"/>
                </a:solidFill>
                <a:latin typeface="Malgun Gothic"/>
                <a:ea typeface="Malgun Gothic"/>
              </a:rPr>
              <a:t>11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280160"/>
          <a:ext cx="11201399" cy="321868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22500"/>
                <a:gridCol w="2222500"/>
                <a:gridCol w="2133600"/>
                <a:gridCol w="2044699"/>
                <a:gridCol w="2578100"/>
              </a:tblGrid>
              <a:tr h="804672"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</a:rPr>
                        <a:t>구성</a:t>
                      </a:r>
                    </a:p>
                  </a:txBody>
                  <a:tcPr marL="76200" marR="76200" marT="25400" marB="25400" anchor="ctr">
                    <a:solidFill>
                      <a:srgbClr val="1E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</a:rPr>
                        <a:t>사용자 전체 검색</a:t>
                      </a:r>
                    </a:p>
                  </a:txBody>
                  <a:tcPr marL="76200" marR="76200" marT="25400" marB="25400" anchor="ctr">
                    <a:solidFill>
                      <a:srgbClr val="1E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</a:rPr>
                        <a:t>사용자당 고정비</a:t>
                      </a:r>
                    </a:p>
                  </a:txBody>
                  <a:tcPr marL="76200" marR="76200" marT="25400" marB="25400" anchor="ctr">
                    <a:solidFill>
                      <a:srgbClr val="1E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</a:rPr>
                        <a:t>격리 보장</a:t>
                      </a:r>
                    </a:p>
                  </a:txBody>
                  <a:tcPr marL="76200" marR="76200" marT="25400" marB="25400" anchor="ctr">
                    <a:solidFill>
                      <a:srgbClr val="1E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</a:rPr>
                        <a:t>비고</a:t>
                      </a:r>
                    </a:p>
                  </a:txBody>
                  <a:tcPr marL="76200" marR="76200" marT="25400" marB="25400" anchor="ctr">
                    <a:solidFill>
                      <a:srgbClr val="1E3A5F"/>
                    </a:solidFill>
                  </a:tcPr>
                </a:tc>
              </a:tr>
              <a:tr h="804672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</a:rPr>
                        <a:t>A. 프로젝트 공용</a:t>
                      </a:r>
                    </a:p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</a:rPr>
                        <a:t>사용자=metadata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</a:rPr>
                        <a:t>프로젝트 안에서만</a:t>
                      </a:r>
                    </a:p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</a:rPr>
                        <a:t>(필터)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</a:rPr>
                        <a:t>0</a:t>
                      </a:r>
                    </a:p>
                  </a:txBody>
                  <a:tcPr marL="76200" marR="76200" marT="25400" marB="25400" anchor="ctr">
                    <a:solidFill>
                      <a:srgbClr val="E6F2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</a:rPr>
                        <a:t>필터 의존</a:t>
                      </a:r>
                    </a:p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</a:rPr>
                        <a:t>(누락 시 전체 반환)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</a:rPr>
                        <a:t>Mem0와 기능 동등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</a:tr>
              <a:tr h="804672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</a:rPr>
                        <a:t>B. project = user</a:t>
                      </a:r>
                    </a:p>
                  </a:txBody>
                  <a:tcPr marL="76200" marR="76200" marT="25400" marB="25400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</a:rPr>
                        <a:t>파티션=사용자라 자동</a:t>
                      </a:r>
                    </a:p>
                  </a:txBody>
                  <a:tcPr marL="76200" marR="76200" marT="25400" marB="25400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B42318"/>
                          </a:solidFill>
                          <a:latin typeface="Malgun Gothic"/>
                          <a:ea typeface="Malgun Gothic"/>
                        </a:rPr>
                        <a:t>Postgres 테이블 2개/인당 ⚠</a:t>
                      </a:r>
                    </a:p>
                  </a:txBody>
                  <a:tcPr marL="76200" marR="76200" marT="25400" marB="25400" anchor="ctr">
                    <a:solidFill>
                      <a:srgbClr val="FBE9E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</a:rPr>
                        <a:t>구조가 보장</a:t>
                      </a:r>
                    </a:p>
                  </a:txBody>
                  <a:tcPr marL="76200" marR="76200" marT="25400" marB="25400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</a:rPr>
                        <a:t>비용이 확장 한계</a:t>
                      </a:r>
                    </a:p>
                  </a:txBody>
                  <a:tcPr marL="76200" marR="76200" marT="25400" marB="25400" anchor="ctr">
                    <a:solidFill>
                      <a:srgbClr val="F3F4F6"/>
                    </a:solidFill>
                  </a:tcPr>
                </a:tc>
              </a:tr>
              <a:tr h="804672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</a:rPr>
                        <a:t>C. 바인딩 해제</a:t>
                      </a:r>
                    </a:p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</a:rPr>
                        <a:t>+ user 값-그룹 링크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1E3A5F"/>
                          </a:solidFill>
                          <a:latin typeface="Malgun Gothic"/>
                          <a:ea typeface="Malgun Gothic"/>
                        </a:rPr>
                        <a:t>전 프로젝트 횡단 1회 검색</a:t>
                      </a:r>
                    </a:p>
                  </a:txBody>
                  <a:tcPr marL="76200" marR="76200" marT="25400" marB="25400" anchor="ctr">
                    <a:solidFill>
                      <a:srgbClr val="E8EE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</a:rPr>
                        <a:t>0</a:t>
                      </a:r>
                    </a:p>
                  </a:txBody>
                  <a:tcPr marL="76200" marR="76200" marT="25400" marB="25400" anchor="ctr">
                    <a:solidFill>
                      <a:srgbClr val="E6F2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</a:rPr>
                        <a:t>필터 의존</a:t>
                      </a:r>
                    </a:p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</a:rPr>
                        <a:t>(서버 강제 추가 필요)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</a:rPr>
                        <a:t>Qdrant 전제에서만 성립</a:t>
                      </a:r>
                    </a:p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</a:rPr>
                        <a:t>데이터 변경 0, 코드 3지점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4754880"/>
            <a:ext cx="111556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50" b="1" i="0">
                <a:solidFill>
                  <a:srgbClr val="1E3A5F"/>
                </a:solidFill>
                <a:latin typeface="Malgun Gothic"/>
                <a:ea typeface="Malgun Gothic"/>
              </a:rPr>
              <a:t>C가 성립하는 이유 — 이미 깔려 있는 것을 쓰는 것뿐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138928"/>
            <a:ext cx="11155680" cy="10058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1F2937"/>
                </a:solidFill>
                <a:latin typeface="Malgun Gothic"/>
                <a:ea typeface="Malgun Gothic"/>
              </a:rPr>
              <a:t>· user_id 값-그룹 링크는 파티션을 가로질러 이미 생성돼 있음 (발견 ①의 '죽은 링크'가 바로 살아나는 자산)</a:t>
            </a:r>
          </a:p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1F2937"/>
                </a:solidFill>
                <a:latin typeface="Malgun Gothic"/>
                <a:ea typeface="Malgun Gothic"/>
              </a:rPr>
              <a:t>· 원문 복원(episode_store)은 uid 기반 공유 테이블 — 파티션 무관으로 이미 동작</a:t>
            </a:r>
          </a:p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1F2937"/>
                </a:solidFill>
                <a:latin typeface="Malgun Gothic"/>
                <a:ea typeface="Malgun Gothic"/>
              </a:rPr>
              <a:t>· 잠금은 전부 MemMachine 코드: 필터 조립(:352) · 컬렉션 바인딩 · API 스펙 — DB는 아무것도 강제하지 않음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1124712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900" b="0" i="0">
                <a:solidFill>
                  <a:srgbClr val="AFB6C2"/>
                </a:solidFill>
                <a:latin typeface="Malgun Gothic"/>
                <a:ea typeface="Malgun Gothic"/>
              </a:rPr>
              <a:t>MemMachine × VectorDB 구조 분석  ·  기준 upstream/main 2d28c1c  ·  2026-08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241280" cy="6400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Malgun Gothic"/>
                <a:ea typeface="Malgun Gothic"/>
              </a:rPr>
              <a:t>다음 단계 — 실측으로 확정할 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85855" y="201168"/>
            <a:ext cx="64008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200" b="0" i="0">
                <a:solidFill>
                  <a:srgbClr val="9FB3CC"/>
                </a:solidFill>
                <a:latin typeface="Malgun Gothic"/>
                <a:ea typeface="Malgun Gothic"/>
              </a:rPr>
              <a:t>12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280160"/>
          <a:ext cx="11201398" cy="340156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78692"/>
                <a:gridCol w="2489200"/>
                <a:gridCol w="5361353"/>
                <a:gridCol w="2872153"/>
              </a:tblGrid>
              <a:tr h="566928"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</a:rPr>
                        <a:t>#</a:t>
                      </a:r>
                    </a:p>
                  </a:txBody>
                  <a:tcPr marL="76200" marR="76200" marT="25400" marB="25400" anchor="ctr">
                    <a:solidFill>
                      <a:srgbClr val="1E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</a:rPr>
                        <a:t>항목</a:t>
                      </a:r>
                    </a:p>
                  </a:txBody>
                  <a:tcPr marL="76200" marR="76200" marT="25400" marB="25400" anchor="ctr">
                    <a:solidFill>
                      <a:srgbClr val="1E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</a:rPr>
                        <a:t>무엇을 확인</a:t>
                      </a:r>
                    </a:p>
                  </a:txBody>
                  <a:tcPr marL="76200" marR="76200" marT="25400" marB="25400" anchor="ctr">
                    <a:solidFill>
                      <a:srgbClr val="1E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</a:rPr>
                        <a:t>도구</a:t>
                      </a:r>
                    </a:p>
                  </a:txBody>
                  <a:tcPr marL="76200" marR="76200" marT="25400" marB="25400" anchor="ctr">
                    <a:solidFill>
                      <a:srgbClr val="1E3A5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</a:rPr>
                        <a:t>1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</a:rPr>
                        <a:t>Postgres 파티션 스윕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</a:rPr>
                        <a:t>프로젝트 100/500/1000에서 계획시간·메모리·DDL 대기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</a:rPr>
                        <a:t>psql, pg_locks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</a:rPr>
                        <a:t>2</a:t>
                      </a:r>
                    </a:p>
                  </a:txBody>
                  <a:tcPr marL="76200" marR="76200" marT="25400" marB="25400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</a:rPr>
                        <a:t>값-그룹 링크 실효</a:t>
                      </a:r>
                    </a:p>
                  </a:txBody>
                  <a:tcPr marL="76200" marR="76200" marT="25400" marB="25400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</a:rPr>
                        <a:t>사용자 수↑에서 Qdrant 조건 검색 지연 방어 확인</a:t>
                      </a:r>
                    </a:p>
                  </a:txBody>
                  <a:tcPr marL="76200" marR="76200" marT="25400" marB="25400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</a:rPr>
                        <a:t>N 스윕 + filter 유/무</a:t>
                      </a:r>
                    </a:p>
                  </a:txBody>
                  <a:tcPr marL="76200" marR="76200" marT="25400" marB="25400" anchor="ctr">
                    <a:solidFill>
                      <a:srgbClr val="F3F4F6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</a:rPr>
                        <a:t>3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</a:rPr>
                        <a:t>AUTOINDEX 실체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</a:rPr>
                        <a:t>Milvus가 실제 고른 인덱스 · 물리 파티션 64 확인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</a:rPr>
                        <a:t>describe_index, list_partitions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</a:rPr>
                        <a:t>4</a:t>
                      </a:r>
                    </a:p>
                  </a:txBody>
                  <a:tcPr marL="76200" marR="76200" marT="25400" marB="25400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</a:rPr>
                        <a:t>enable_hnsw 효과</a:t>
                      </a:r>
                    </a:p>
                  </a:txBody>
                  <a:tcPr marL="76200" marR="76200" marT="25400" marB="25400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</a:rPr>
                        <a:t>불필요 필드 링크 제거 시 빌드 시간·메모리 변화</a:t>
                      </a:r>
                    </a:p>
                  </a:txBody>
                  <a:tcPr marL="76200" marR="76200" marT="25400" marB="25400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</a:rPr>
                        <a:t>코드 수정 + 재빌드 비교</a:t>
                      </a:r>
                    </a:p>
                  </a:txBody>
                  <a:tcPr marL="76200" marR="76200" marT="25400" marB="25400" anchor="ctr">
                    <a:solidFill>
                      <a:srgbClr val="F3F4F6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</a:rPr>
                        <a:t>5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</a:rPr>
                        <a:t>구성 C PoC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</a:rPr>
                        <a:t>바인딩 해제 후 사용자 횡단 검색 품질·지연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</a:rPr>
                        <a:t>Qdrant 직접 호출 (반나절)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02920" y="4892040"/>
            <a:ext cx="11201400" cy="1371600"/>
          </a:xfrm>
          <a:prstGeom prst="roundRect">
            <a:avLst>
              <a:gd name="adj" fmla="val 8000"/>
            </a:avLst>
          </a:prstGeom>
          <a:solidFill>
            <a:srgbClr val="E6F2F0"/>
          </a:solidFill>
          <a:ln w="1778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5029200"/>
            <a:ext cx="10789920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1" i="0">
                <a:solidFill>
                  <a:srgbClr val="0F766E"/>
                </a:solidFill>
                <a:latin typeface="Malgun Gothic"/>
                <a:ea typeface="Malgun Gothic"/>
              </a:rPr>
              <a:t>핵심 메시지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440680"/>
            <a:ext cx="10789920" cy="7772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1F2937"/>
                </a:solidFill>
                <a:latin typeface="Malgun Gothic"/>
                <a:ea typeface="Malgun Gothic"/>
              </a:rPr>
              <a:t>벡터DB는 이미 벤더 권장 구조다. 병목은 그 옆(Postgres·앱 캐시)에 있고,</a:t>
            </a:r>
          </a:p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1F2937"/>
                </a:solidFill>
                <a:latin typeface="Malgun Gothic"/>
                <a:ea typeface="Malgun Gothic"/>
              </a:rPr>
              <a:t>차별화 기회는 '이미 깔려 있는데 아무도 안 쓰는 구조'(값-그룹 링크·enable_hnsw)에 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1124712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900" b="0" i="0">
                <a:solidFill>
                  <a:srgbClr val="AFB6C2"/>
                </a:solidFill>
                <a:latin typeface="Malgun Gothic"/>
                <a:ea typeface="Malgun Gothic"/>
              </a:rPr>
              <a:t>MemMachine × VectorDB 구조 분석  ·  기준 upstream/main 2d28c1c  ·  2026-08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241280" cy="6400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Malgun Gothic"/>
                <a:ea typeface="Malgun Gothic"/>
              </a:rPr>
              <a:t>부록 — 근거 코드 위치 (전부 재현 가능)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85855" y="201168"/>
            <a:ext cx="64008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200" b="0" i="0">
                <a:solidFill>
                  <a:srgbClr val="9FB3CC"/>
                </a:solidFill>
                <a:latin typeface="Malgun Gothic"/>
                <a:ea typeface="Malgun Gothic"/>
              </a:rPr>
              <a:t>A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188720"/>
          <a:ext cx="11201398" cy="4572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366647"/>
                <a:gridCol w="5315918"/>
                <a:gridCol w="1518833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</a:rPr>
                        <a:t>주장</a:t>
                      </a:r>
                    </a:p>
                  </a:txBody>
                  <a:tcPr marL="76200" marR="76200" marT="25400" marB="25400" anchor="ctr">
                    <a:solidFill>
                      <a:srgbClr val="1E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</a:rPr>
                        <a:t>파일 · 심볼</a:t>
                      </a:r>
                    </a:p>
                  </a:txBody>
                  <a:tcPr marL="76200" marR="76200" marT="25400" marB="25400" anchor="ctr">
                    <a:solidFill>
                      <a:srgbClr val="1E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</a:rPr>
                        <a:t>줄</a:t>
                      </a:r>
                    </a:p>
                  </a:txBody>
                  <a:tcPr marL="76200" marR="76200" marT="25400" marB="25400" anchor="ctr">
                    <a:solidFill>
                      <a:srgbClr val="1E3A5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</a:rPr>
                        <a:t>이름→provider 판별 / 클라이언트 락+캐시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</a:rPr>
                        <a:t>database_manager.py · get_vector_store / async_get_*_client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</a:rPr>
                        <a:t>827 / 547 / 640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</a:rPr>
                        <a:t>첫 세션 lazy 준비 · partition_key 규칙</a:t>
                      </a:r>
                    </a:p>
                  </a:txBody>
                  <a:tcPr marL="76200" marR="76200" marT="25400" marB="25400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</a:rPr>
                        <a:t>long_term_memory/service_locator.py · _event_params / partition_key_for_session</a:t>
                      </a:r>
                    </a:p>
                  </a:txBody>
                  <a:tcPr marL="76200" marR="76200" marT="25400" marB="25400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</a:rPr>
                        <a:t>92-140 / 165</a:t>
                      </a:r>
                    </a:p>
                  </a:txBody>
                  <a:tcPr marL="76200" marR="76200" marT="25400" marB="25400" anchor="ctr">
                    <a:solidFill>
                      <a:srgbClr val="F3F4F6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</a:rPr>
                        <a:t>스키마 해시 &lt;h&gt;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</a:rPr>
                        <a:t>qdrant_vector_store.py / milvus_vector_store.py · _build_native_collection_name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</a:rPr>
                        <a:t>620 / 482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</a:rPr>
                        <a:t>m=0 · payload_m · is_tenant · 색인 12개 루프</a:t>
                      </a:r>
                    </a:p>
                  </a:txBody>
                  <a:tcPr marL="76200" marR="76200" marT="25400" marB="25400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</a:rPr>
                        <a:t>qdrant_vector_store.py · _create_native_collection</a:t>
                      </a:r>
                    </a:p>
                  </a:txBody>
                  <a:tcPr marL="76200" marR="76200" marT="25400" marB="25400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</a:rPr>
                        <a:t>744-770</a:t>
                      </a:r>
                    </a:p>
                  </a:txBody>
                  <a:tcPr marL="76200" marR="76200" marT="25400" marB="25400" anchor="ctr">
                    <a:solidFill>
                      <a:srgbClr val="F3F4F6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</a:rPr>
                        <a:t>Milvus 64버킷 · AUTOINDEX · _p_* 동적 필드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</a:rPr>
                        <a:t>milvus_vector_store.py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</a:rPr>
                        <a:t>672-706 / 178-197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</a:rPr>
                        <a:t>원문 선저장 → uid → Event(uuid5) → 세그먼트 → derivative(uuid4)=포인트</a:t>
                      </a:r>
                    </a:p>
                  </a:txBody>
                  <a:tcPr marL="76200" marR="76200" marT="25400" marB="25400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</a:rPr>
                        <a:t>main/memmachine.py · event_memory.py:_build_derivative_record</a:t>
                      </a:r>
                    </a:p>
                  </a:txBody>
                  <a:tcPr marL="76200" marR="76200" marT="25400" marB="25400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</a:rPr>
                        <a:t>700,720 / 319-338</a:t>
                      </a:r>
                    </a:p>
                  </a:txBody>
                  <a:tcPr marL="76200" marR="76200" marT="25400" marB="25400" anchor="ctr">
                    <a:solidFill>
                      <a:srgbClr val="F3F4F6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</a:rPr>
                        <a:t>파티션 무조건 AND(&amp;&amp;) — MemMachine 코드가 조립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</a:rPr>
                        <a:t>qdrant :352 / milvus :294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</a:rPr>
                        <a:t>352 / 294-300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</a:rPr>
                        <a:t>uid→원문 복원 (공유 테이블, 파티션 무관)</a:t>
                      </a:r>
                    </a:p>
                  </a:txBody>
                  <a:tcPr marL="76200" marR="76200" marT="25400" marB="25400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</a:rPr>
                        <a:t>long_term_memory.py</a:t>
                      </a:r>
                    </a:p>
                  </a:txBody>
                  <a:tcPr marL="76200" marR="76200" marT="25400" marB="25400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</a:rPr>
                        <a:t>357</a:t>
                      </a:r>
                    </a:p>
                  </a:txBody>
                  <a:tcPr marL="76200" marR="76200" marT="25400" marB="25400" anchor="ctr">
                    <a:solidFill>
                      <a:srgbClr val="F3F4F6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</a:rPr>
                        <a:t>Postgres CREATE TABLE ×2 + 직렬화 잠금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</a:rPr>
                        <a:t>sqlalchemy_segment_store.py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7"/>
                          </a:solidFill>
                          <a:latin typeface="Malgun Gothic"/>
                          <a:ea typeface="Malgun Gothic"/>
                        </a:rPr>
                        <a:t>1045 / 801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5943600"/>
            <a:ext cx="111556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050" b="0" i="0">
                <a:solidFill>
                  <a:srgbClr val="6B7280"/>
                </a:solidFill>
                <a:latin typeface="Malgun Gothic"/>
                <a:ea typeface="Malgun Gothic"/>
              </a:rPr>
              <a:t>상세 재현 명령: docs/msr/memmachine_vectordb_full_guide.md 부록 A  ·  경로 접두사 packages/server/src/memmachine_server/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1124712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900" b="0" i="0">
                <a:solidFill>
                  <a:srgbClr val="AFB6C2"/>
                </a:solidFill>
                <a:latin typeface="Malgun Gothic"/>
                <a:ea typeface="Malgun Gothic"/>
              </a:rPr>
              <a:t>MemMachine × VectorDB 구조 분석  ·  기준 upstream/main 2d28c1c  ·  2026-08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